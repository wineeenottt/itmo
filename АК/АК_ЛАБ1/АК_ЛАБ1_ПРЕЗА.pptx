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69" r:id="rId9"/>
    <p:sldId id="271" r:id="rId10"/>
    <p:sldId id="273" r:id="rId11"/>
    <p:sldId id="275" r:id="rId12"/>
    <p:sldId id="276" r:id="rId13"/>
  </p:sldIdLst>
  <p:sldSz cx="14630400" cy="8229600"/>
  <p:notesSz cx="8229600" cy="14630400"/>
  <p:embeddedFontLst>
    <p:embeddedFont>
      <p:font typeface="Arabic Typesetting" panose="03020402040406030203" pitchFamily="66" charset="-78"/>
      <p:regular r:id="rId15"/>
    </p:embeddedFont>
    <p:embeddedFont>
      <p:font typeface="Braggadocio" pitchFamily="82" charset="0"/>
      <p:regular r:id="rId16"/>
    </p:embeddedFont>
    <p:embeddedFont>
      <p:font typeface="Syne" pitchFamily="82" charset="0"/>
      <p:regular r:id="rId17"/>
    </p:embeddedFont>
    <p:embeddedFont>
      <p:font typeface="Syne Extra Bold" pitchFamily="82" charset="0"/>
      <p:regular r:id="rId18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E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32"/>
    <p:restoredTop sz="94610"/>
  </p:normalViewPr>
  <p:slideViewPr>
    <p:cSldViewPr snapToGrid="0" snapToObjects="1">
      <p:cViewPr>
        <p:scale>
          <a:sx n="86" d="100"/>
          <a:sy n="86" d="100"/>
        </p:scale>
        <p:origin x="86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45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6598-9C33-B385-9CAD-38ED2312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B5B3C-554B-D2B4-DA3D-02FBA6D5F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AF0CC-6055-A413-0054-FB8DDE906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D4828-E6CB-6C51-6A4C-B5CACAE39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1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9F00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9F00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2"/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0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1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0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08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7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992" y="1243608"/>
            <a:ext cx="6618208" cy="441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5400" b="1" dirty="0">
                <a:solidFill>
                  <a:srgbClr val="F0F4F1"/>
                </a:solidFill>
                <a:latin typeface="Braggadocio" pitchFamily="82" charset="0"/>
                <a:ea typeface="Syne Extra Bold" pitchFamily="34" charset="-122"/>
                <a:cs typeface="Arabic Typesetting" panose="03020402040406030203" pitchFamily="66" charset="-78"/>
              </a:rPr>
              <a:t>Кэш</a:t>
            </a:r>
            <a:r>
              <a:rPr lang="en-US" sz="5400" b="1" dirty="0">
                <a:solidFill>
                  <a:srgbClr val="F0F4F1"/>
                </a:solidFill>
                <a:latin typeface="Braggadocio" pitchFamily="82" charset="0"/>
                <a:ea typeface="Syne Extra Bold" pitchFamily="34" charset="-122"/>
                <a:cs typeface="Syne Extra Bold" pitchFamily="34" charset="-120"/>
              </a:rPr>
              <a:t> Side-Channel атаки и архитектурные методы защиты</a:t>
            </a:r>
            <a:endParaRPr lang="en-US" sz="5400" dirty="0">
              <a:latin typeface="Braggadocio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6992" y="5712381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57785" y="5334536"/>
            <a:ext cx="607659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Косогова Мария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7785" y="5712381"/>
            <a:ext cx="607659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Группа: P3206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74132" y="5334536"/>
            <a:ext cx="45719" cy="755690"/>
          </a:xfrm>
          <a:prstGeom prst="rect">
            <a:avLst/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565708" y="6951107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4576633-FAF0-8FB7-E6DE-55111EC1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134" y="979289"/>
            <a:ext cx="6859625" cy="6231731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376474"/>
          </a:effectLst>
        </p:spPr>
      </p:pic>
      <p:pic>
        <p:nvPicPr>
          <p:cNvPr id="13" name="Рисунок 12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4E86F5-8221-EA37-08DC-22714833E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0" y="7211020"/>
            <a:ext cx="1981200" cy="998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2115" y="2109430"/>
            <a:ext cx="1316616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32115" y="2648069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2"/>
          <p:cNvSpPr/>
          <p:nvPr/>
        </p:nvSpPr>
        <p:spPr>
          <a:xfrm>
            <a:off x="1411962" y="2893219"/>
            <a:ext cx="12277130" cy="64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Кэш side-channel атаки позволяют извлекать чувствительные данные без прямого доступа к памяти, что делает их особенно опасными для современных многопользовательских и облачных систем.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32115" y="4031575"/>
            <a:ext cx="1316616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2115" y="4235172"/>
            <a:ext cx="4260056" cy="1444585"/>
          </a:xfrm>
          <a:prstGeom prst="roundRect">
            <a:avLst>
              <a:gd name="adj" fmla="val 6082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1072038" y="4802267"/>
            <a:ext cx="338732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1. Кэш как канал утечки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165467" y="4235172"/>
            <a:ext cx="4260175" cy="1444585"/>
          </a:xfrm>
          <a:prstGeom prst="roundRect">
            <a:avLst>
              <a:gd name="adj" fmla="val 6082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5417164" y="4694751"/>
            <a:ext cx="3796070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2. Техники Flush+Reload и Prime+Probe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598938" y="4235172"/>
            <a:ext cx="4260056" cy="1444585"/>
          </a:xfrm>
          <a:prstGeom prst="roundRect">
            <a:avLst>
              <a:gd name="adj" fmla="val 6082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9870162" y="4802267"/>
            <a:ext cx="379595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3. </a:t>
            </a: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Атаки</a:t>
            </a: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типа Spectre </a:t>
            </a:r>
            <a:endParaRPr lang="en-US" sz="2050" dirty="0"/>
          </a:p>
        </p:txBody>
      </p:sp>
      <p:sp>
        <p:nvSpPr>
          <p:cNvPr id="14" name="Shape 10"/>
          <p:cNvSpPr/>
          <p:nvPr/>
        </p:nvSpPr>
        <p:spPr>
          <a:xfrm>
            <a:off x="712529" y="5928045"/>
            <a:ext cx="13166050" cy="790932"/>
          </a:xfrm>
          <a:prstGeom prst="roundRect">
            <a:avLst>
              <a:gd name="adj" fmla="val 11109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941308" y="6160097"/>
            <a:ext cx="10425232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4. Архитектурные методы защиты и их влияние на производительность 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732115" y="7215664"/>
            <a:ext cx="1316616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12836436-EA1A-62DA-948B-C7171AB4EA33}"/>
              </a:ext>
            </a:extLst>
          </p:cNvPr>
          <p:cNvSpPr/>
          <p:nvPr/>
        </p:nvSpPr>
        <p:spPr>
          <a:xfrm>
            <a:off x="732115" y="571776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17B866-A225-01C7-4E13-D0B86C37793B}"/>
              </a:ext>
            </a:extLst>
          </p:cNvPr>
          <p:cNvSpPr txBox="1"/>
          <p:nvPr/>
        </p:nvSpPr>
        <p:spPr>
          <a:xfrm>
            <a:off x="1072038" y="863332"/>
            <a:ext cx="9288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APPLE CHANCERY" panose="03020702040506060504" pitchFamily="66" charset="-79"/>
              </a:rPr>
              <a:t>Введение: кэш </a:t>
            </a:r>
            <a:r>
              <a:rPr lang="en-US" sz="3200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200" stA="69000" endPos="54000" dist="63500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Side-Channel </a:t>
            </a:r>
            <a:r>
              <a:rPr lang="ru-RU" sz="3200" b="1" kern="0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APPLE CHANCERY" panose="03020702040506060504" pitchFamily="66" charset="-79"/>
              </a:rPr>
              <a:t>атаки</a:t>
            </a:r>
            <a:r>
              <a:rPr lang="ru-RU" sz="3200" b="1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cs typeface="APPLE CHANCERY" panose="03020702040506060504" pitchFamily="66" charset="-79"/>
              </a:rPr>
              <a:t> </a:t>
            </a:r>
          </a:p>
        </p:txBody>
      </p:sp>
      <p:pic>
        <p:nvPicPr>
          <p:cNvPr id="18" name="Рисунок 17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7FA9A0-7302-2E60-8F7D-689E06A07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710" y="7726208"/>
            <a:ext cx="2933700" cy="503391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3A4DFBF-EF12-2DC8-729E-44AA16125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81" y="2880121"/>
            <a:ext cx="372203" cy="297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160" y="2150388"/>
            <a:ext cx="13218081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907852" y="2288974"/>
            <a:ext cx="5720653" cy="11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Кэш-память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быстрая память внутри CPU </a:t>
            </a:r>
            <a:endParaRPr lang="ru-RU" sz="2000" dirty="0">
              <a:solidFill>
                <a:srgbClr val="D7E5D8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→ хранит часто используемые данные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8817" y="3442573"/>
            <a:ext cx="129154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Время доступа к 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памяти</a:t>
            </a:r>
            <a:r>
              <a:rPr lang="en-US" sz="1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08817" y="4025860"/>
            <a:ext cx="129154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· L1 — ~4 такта,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8817" y="4609148"/>
            <a:ext cx="129154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· L2 — ~12 тактов,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8817" y="5192435"/>
            <a:ext cx="129154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· L3 — 30–50 тактов,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8817" y="5775722"/>
            <a:ext cx="129154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· DRAM — сотни тактов.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6160" y="3240643"/>
            <a:ext cx="22860" cy="3118366"/>
          </a:xfrm>
          <a:prstGeom prst="rect">
            <a:avLst/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766314" y="6560939"/>
            <a:ext cx="5041497" cy="873443"/>
          </a:xfrm>
          <a:prstGeom prst="roundRect">
            <a:avLst>
              <a:gd name="adj" fmla="val 9703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1424821" y="6806979"/>
            <a:ext cx="12297727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→ разница = основа timing-атак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 descr="Изображение выглядит как символ, снимок экрана, Шрифт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F7F129-9B0E-6C15-0D0D-4D9542FF5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9355" y="1564316"/>
            <a:ext cx="4810282" cy="6776021"/>
          </a:xfrm>
          <a:prstGeom prst="rect">
            <a:avLst/>
          </a:prstGeom>
        </p:spPr>
      </p:pic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4E9A64A6-0E4D-8E5E-D9DD-C3A84E03E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12" y="6806979"/>
            <a:ext cx="481094" cy="38491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5689CF-38AF-E0B6-5D5A-4F62D0406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4693" y="7723676"/>
            <a:ext cx="2082800" cy="457200"/>
          </a:xfrm>
          <a:prstGeom prst="rect">
            <a:avLst/>
          </a:prstGeom>
        </p:spPr>
      </p:pic>
      <p:sp>
        <p:nvSpPr>
          <p:cNvPr id="21" name="Shape 1">
            <a:extLst>
              <a:ext uri="{FF2B5EF4-FFF2-40B4-BE49-F238E27FC236}">
                <a16:creationId xmlns:a16="http://schemas.microsoft.com/office/drawing/2014/main" id="{ACF90674-DBC2-971E-186B-D511F46D70A8}"/>
              </a:ext>
            </a:extLst>
          </p:cNvPr>
          <p:cNvSpPr/>
          <p:nvPr/>
        </p:nvSpPr>
        <p:spPr>
          <a:xfrm>
            <a:off x="766314" y="571776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9939F-FA0B-9DE6-5888-C0BF88D0CBA3}"/>
              </a:ext>
            </a:extLst>
          </p:cNvPr>
          <p:cNvSpPr txBox="1"/>
          <p:nvPr/>
        </p:nvSpPr>
        <p:spPr>
          <a:xfrm>
            <a:off x="1146493" y="878575"/>
            <a:ext cx="8625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latin typeface="Arabic Typesetting" panose="020F0502020204030204" pitchFamily="34" charset="0"/>
                <a:ea typeface="Times New Roman" panose="02020603050405020304" pitchFamily="18" charset="0"/>
                <a:cs typeface="Arabic Typesetting" panose="020F0502020204030204" pitchFamily="34" charset="0"/>
              </a:rPr>
              <a:t>Кэш и </a:t>
            </a:r>
            <a:r>
              <a:rPr lang="ru-RU" sz="3200" b="1" kern="0" dirty="0">
                <a:solidFill>
                  <a:schemeClr val="bg1"/>
                </a:solidFill>
                <a:effectLst>
                  <a:glow rad="127000">
                    <a:schemeClr val="accent1">
                      <a:alpha val="40000"/>
                    </a:schemeClr>
                  </a:glow>
                  <a:reflection blurRad="203200" stA="69000" endPos="54000" dist="63500" dir="5400000" sy="-100000" algn="bl" rotWithShape="0"/>
                </a:effectLst>
                <a:latin typeface="Arabic Typesetting" panose="020F0502020204030204" pitchFamily="34" charset="0"/>
                <a:ea typeface="Times New Roman" panose="02020603050405020304" pitchFamily="18" charset="0"/>
                <a:cs typeface="Arabic Typesetting" panose="020F0502020204030204" pitchFamily="34" charset="0"/>
              </a:rPr>
              <a:t>микроархитектура</a:t>
            </a:r>
            <a:r>
              <a:rPr lang="ru-RU" sz="3200" b="1" kern="0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latin typeface="Arabic Typesetting" panose="020F0502020204030204" pitchFamily="34" charset="0"/>
                <a:ea typeface="Times New Roman" panose="02020603050405020304" pitchFamily="18" charset="0"/>
                <a:cs typeface="Arabic Typesetting" panose="020F0502020204030204" pitchFamily="34" charset="0"/>
              </a:rPr>
              <a:t> </a:t>
            </a:r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reflection blurRad="203200" stA="69000" endPos="54000" dist="63500" dir="5400000" sy="-100000" algn="bl" rotWithShape="0"/>
                </a:effectLst>
                <a:latin typeface="Arabic Typesetting" panose="020F0502020204030204" pitchFamily="34" charset="0"/>
                <a:ea typeface="Times New Roman" panose="02020603050405020304" pitchFamily="18" charset="0"/>
                <a:cs typeface="Arabic Typesetting" panose="020F0502020204030204" pitchFamily="34" charset="0"/>
              </a:rPr>
              <a:t>процессора</a:t>
            </a:r>
            <a:r>
              <a:rPr lang="ru-RU" sz="3200" b="1" dirty="0">
                <a:solidFill>
                  <a:schemeClr val="bg1"/>
                </a:solidFill>
                <a:effectLst>
                  <a:reflection blurRad="203200" stA="69000" endPos="54000" dist="63500" dir="5400000" sy="-100000" algn="bl" rotWithShape="0"/>
                </a:effectLst>
                <a:latin typeface="Arabic Typesetting" panose="020F0502020204030204" pitchFamily="34" charset="0"/>
                <a:cs typeface="Arabic Typesetting" panose="020F0502020204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3789" y="2196465"/>
            <a:ext cx="5735479" cy="1000721"/>
          </a:xfrm>
          <a:prstGeom prst="roundRect">
            <a:avLst>
              <a:gd name="adj" fmla="val 17880"/>
            </a:avLst>
          </a:prstGeom>
          <a:solidFill>
            <a:srgbClr val="33480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1020604" y="2576157"/>
            <a:ext cx="3472305" cy="72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МЕХАНИЗМ  SIDE-CHANNEL АТАКИ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2115" y="22256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1048941" y="3495913"/>
            <a:ext cx="30480" cy="2268141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1273612" y="373582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793790" y="34959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78860" y="35384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2183011" y="3573780"/>
            <a:ext cx="38514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Контроль состояния кэша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73612" y="464308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793790" y="44031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78860" y="444567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2183011" y="4481036"/>
            <a:ext cx="3905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Выполнение кода жертвы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273612" y="555033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793790" y="53104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878860" y="53529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388293"/>
            <a:ext cx="4346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Измерение времени доступа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3790" y="6019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793790" y="6637258"/>
            <a:ext cx="6874107" cy="963811"/>
          </a:xfrm>
          <a:prstGeom prst="roundRect">
            <a:avLst>
              <a:gd name="adj" fmla="val 9884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40" y="6973729"/>
            <a:ext cx="283488" cy="22681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04092" y="691884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Атака строится на различии между cache hit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и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cache miss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Рисунок 23" descr="Изображение выглядит как снимок экрана, черный, размыт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CE91EE-24DE-5C8B-1874-8E579B7A6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7087136"/>
            <a:ext cx="3530600" cy="11303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49B4AA-FBCC-26FC-6EC1-A7462F26D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897" y="2356380"/>
            <a:ext cx="6556675" cy="4513035"/>
          </a:xfrm>
          <a:prstGeom prst="rect">
            <a:avLst/>
          </a:prstGeom>
          <a:effectLst>
            <a:softEdge rad="337040"/>
          </a:effectLst>
        </p:spPr>
      </p:pic>
      <p:sp>
        <p:nvSpPr>
          <p:cNvPr id="26" name="Shape 1">
            <a:extLst>
              <a:ext uri="{FF2B5EF4-FFF2-40B4-BE49-F238E27FC236}">
                <a16:creationId xmlns:a16="http://schemas.microsoft.com/office/drawing/2014/main" id="{1CD8EA6C-3B55-8798-7920-ABB58C6B87DD}"/>
              </a:ext>
            </a:extLst>
          </p:cNvPr>
          <p:cNvSpPr/>
          <p:nvPr/>
        </p:nvSpPr>
        <p:spPr>
          <a:xfrm>
            <a:off x="732115" y="567690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009A3D-7BE6-A54E-F0AD-CD55628B91BD}"/>
              </a:ext>
            </a:extLst>
          </p:cNvPr>
          <p:cNvSpPr txBox="1"/>
          <p:nvPr/>
        </p:nvSpPr>
        <p:spPr>
          <a:xfrm>
            <a:off x="1110168" y="850583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</a:t>
            </a:r>
            <a:r>
              <a:rPr lang="en-US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Side-Channel</a:t>
            </a:r>
            <a:r>
              <a:rPr lang="en-US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атаки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78374" y="2043589"/>
            <a:ext cx="12073652" cy="1004888"/>
          </a:xfrm>
          <a:prstGeom prst="roundRect">
            <a:avLst>
              <a:gd name="adj" fmla="val 7313"/>
            </a:avLst>
          </a:prstGeom>
          <a:solidFill>
            <a:srgbClr val="957D0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1"/>
          <p:cNvSpPr/>
          <p:nvPr/>
        </p:nvSpPr>
        <p:spPr>
          <a:xfrm>
            <a:off x="1846897" y="2222183"/>
            <a:ext cx="113302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F0F4F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Сценарий Flush+Reload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846897" y="2591633"/>
            <a:ext cx="113302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F0F4F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Flush+Reload работает при наличии общей памяти, например shared libraries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350109" y="3200281"/>
            <a:ext cx="3934539" cy="1571506"/>
          </a:xfrm>
          <a:prstGeom prst="roundRect">
            <a:avLst>
              <a:gd name="adj" fmla="val 467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4"/>
          <p:cNvSpPr/>
          <p:nvPr/>
        </p:nvSpPr>
        <p:spPr>
          <a:xfrm>
            <a:off x="2983230" y="3382804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3127534" y="3497580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988344" y="4042529"/>
            <a:ext cx="251460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Выбор строки памяти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47811" y="3200281"/>
            <a:ext cx="3934658" cy="1571506"/>
          </a:xfrm>
          <a:prstGeom prst="roundRect">
            <a:avLst>
              <a:gd name="adj" fmla="val 467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8"/>
          <p:cNvSpPr/>
          <p:nvPr/>
        </p:nvSpPr>
        <p:spPr>
          <a:xfrm>
            <a:off x="7052667" y="3382804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7196971" y="3497580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530334" y="4042529"/>
            <a:ext cx="3569613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Удаление выбранной строки из кэша (FLUSH)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417368" y="3200281"/>
            <a:ext cx="3934658" cy="1571506"/>
          </a:xfrm>
          <a:prstGeom prst="roundRect">
            <a:avLst>
              <a:gd name="adj" fmla="val 467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11122223" y="3382804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11266527" y="3497580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9599890" y="4042529"/>
            <a:ext cx="3569613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Ожидание запроса строки памяти от жертвы (WAIT)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1278374" y="4906685"/>
            <a:ext cx="3934539" cy="2418278"/>
          </a:xfrm>
          <a:prstGeom prst="roundRect">
            <a:avLst>
              <a:gd name="adj" fmla="val 303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2983230" y="5089208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127534" y="5203984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18"/>
          <p:cNvSpPr/>
          <p:nvPr/>
        </p:nvSpPr>
        <p:spPr>
          <a:xfrm>
            <a:off x="1460897" y="5748933"/>
            <a:ext cx="3569494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Перезагрузка строки памяти и измерение времени, необходимого для загрузки (RELOAD)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347811" y="4906685"/>
            <a:ext cx="3934658" cy="2418278"/>
          </a:xfrm>
          <a:prstGeom prst="roundRect">
            <a:avLst>
              <a:gd name="adj" fmla="val 303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0"/>
          <p:cNvSpPr/>
          <p:nvPr/>
        </p:nvSpPr>
        <p:spPr>
          <a:xfrm>
            <a:off x="7052667" y="5089208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7196971" y="5203984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5</a:t>
            </a:r>
            <a:endParaRPr lang="en-US" sz="1850" dirty="0"/>
          </a:p>
        </p:txBody>
      </p:sp>
      <p:sp>
        <p:nvSpPr>
          <p:cNvPr id="26" name="Text 22"/>
          <p:cNvSpPr/>
          <p:nvPr/>
        </p:nvSpPr>
        <p:spPr>
          <a:xfrm>
            <a:off x="6121122" y="5748933"/>
            <a:ext cx="238791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Анализ результатов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712856" y="6201982"/>
            <a:ext cx="375213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быстро → cache hit → жертва обращалась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медленно → cache miss → не обращалась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9417368" y="4906685"/>
            <a:ext cx="3934658" cy="2418278"/>
          </a:xfrm>
          <a:prstGeom prst="roundRect">
            <a:avLst>
              <a:gd name="adj" fmla="val 303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11122223" y="5089208"/>
            <a:ext cx="524828" cy="524828"/>
          </a:xfrm>
          <a:prstGeom prst="roundRect">
            <a:avLst>
              <a:gd name="adj" fmla="val 17421109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6"/>
          <p:cNvSpPr/>
          <p:nvPr/>
        </p:nvSpPr>
        <p:spPr>
          <a:xfrm>
            <a:off x="11266527" y="5203984"/>
            <a:ext cx="236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6</a:t>
            </a:r>
            <a:endParaRPr lang="en-US" sz="1850" dirty="0"/>
          </a:p>
        </p:txBody>
      </p:sp>
      <p:sp>
        <p:nvSpPr>
          <p:cNvPr id="31" name="Text 27"/>
          <p:cNvSpPr/>
          <p:nvPr/>
        </p:nvSpPr>
        <p:spPr>
          <a:xfrm>
            <a:off x="9599890" y="5748933"/>
            <a:ext cx="3569613" cy="99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Повторение процесса (удаление, затем загрузка) для отслеживания того, какой код выполняет процесс жертвы с течением времени.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Рисунок 36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945D84-A391-8D28-7D53-D6EC5BED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000" y="7606059"/>
            <a:ext cx="2679700" cy="508000"/>
          </a:xfrm>
          <a:prstGeom prst="rect">
            <a:avLst/>
          </a:prstGeom>
        </p:spPr>
      </p:pic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E3E52155-3D45-7646-A01B-F2F98E585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109" y="2130148"/>
            <a:ext cx="425053" cy="340042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CA79FC29-D1EC-3FA1-9A8D-F9C09F640BF7}"/>
              </a:ext>
            </a:extLst>
          </p:cNvPr>
          <p:cNvSpPr/>
          <p:nvPr/>
        </p:nvSpPr>
        <p:spPr>
          <a:xfrm>
            <a:off x="731996" y="56539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3EF7D4-DBA8-F03B-0966-66075C184CD1}"/>
              </a:ext>
            </a:extLst>
          </p:cNvPr>
          <p:cNvSpPr txBox="1"/>
          <p:nvPr/>
        </p:nvSpPr>
        <p:spPr>
          <a:xfrm>
            <a:off x="1181171" y="851951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0" dirty="0" err="1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Flush+Reload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0095" y="2141815"/>
            <a:ext cx="13110210" cy="1424940"/>
          </a:xfrm>
          <a:prstGeom prst="roundRect">
            <a:avLst>
              <a:gd name="adj" fmla="val 6401"/>
            </a:avLst>
          </a:prstGeom>
          <a:solidFill>
            <a:srgbClr val="957D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52" y="2403991"/>
            <a:ext cx="425053" cy="3400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5898" y="2403991"/>
            <a:ext cx="1218723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Этапы Prime+Probe атаки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465898" y="2931081"/>
            <a:ext cx="1218723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Prime+Probe не требует общей памяти, использует общий L3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922972" y="3800594"/>
            <a:ext cx="30480" cy="3198257"/>
          </a:xfrm>
          <a:prstGeom prst="roundRect">
            <a:avLst>
              <a:gd name="adj" fmla="val 2992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4"/>
          <p:cNvSpPr/>
          <p:nvPr/>
        </p:nvSpPr>
        <p:spPr>
          <a:xfrm>
            <a:off x="892493" y="4179808"/>
            <a:ext cx="651510" cy="30480"/>
          </a:xfrm>
          <a:prstGeom prst="roundRect">
            <a:avLst>
              <a:gd name="adj" fmla="val 2992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/>
          <p:cNvSpPr/>
          <p:nvPr/>
        </p:nvSpPr>
        <p:spPr>
          <a:xfrm>
            <a:off x="841534" y="4113609"/>
            <a:ext cx="162878" cy="162878"/>
          </a:xfrm>
          <a:prstGeom prst="roundRect">
            <a:avLst>
              <a:gd name="adj" fmla="val 280701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/>
          <p:cNvSpPr/>
          <p:nvPr/>
        </p:nvSpPr>
        <p:spPr>
          <a:xfrm>
            <a:off x="1574483" y="3800594"/>
            <a:ext cx="12295823" cy="788908"/>
          </a:xfrm>
          <a:prstGeom prst="roundRect">
            <a:avLst>
              <a:gd name="adj" fmla="val 11562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1799273" y="4025384"/>
            <a:ext cx="841486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Prime — заполняем набор своими линиями L3-кэша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92493" y="5384483"/>
            <a:ext cx="651510" cy="30480"/>
          </a:xfrm>
          <a:prstGeom prst="roundRect">
            <a:avLst>
              <a:gd name="adj" fmla="val 2992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841534" y="5318284"/>
            <a:ext cx="162878" cy="162878"/>
          </a:xfrm>
          <a:prstGeom prst="roundRect">
            <a:avLst>
              <a:gd name="adj" fmla="val 280701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1574483" y="5005268"/>
            <a:ext cx="12295823" cy="788908"/>
          </a:xfrm>
          <a:prstGeom prst="roundRect">
            <a:avLst>
              <a:gd name="adj" fmla="val 11562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1799273" y="5230058"/>
            <a:ext cx="6121003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Victim — жертва выполняет операции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92493" y="6589157"/>
            <a:ext cx="651510" cy="30480"/>
          </a:xfrm>
          <a:prstGeom prst="roundRect">
            <a:avLst>
              <a:gd name="adj" fmla="val 2992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841534" y="6522958"/>
            <a:ext cx="162878" cy="162878"/>
          </a:xfrm>
          <a:prstGeom prst="roundRect">
            <a:avLst>
              <a:gd name="adj" fmla="val 280701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4"/>
          <p:cNvSpPr/>
          <p:nvPr/>
        </p:nvSpPr>
        <p:spPr>
          <a:xfrm>
            <a:off x="1574483" y="6209943"/>
            <a:ext cx="12295823" cy="788908"/>
          </a:xfrm>
          <a:prstGeom prst="roundRect">
            <a:avLst>
              <a:gd name="adj" fmla="val 11562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/>
          <p:nvPr/>
        </p:nvSpPr>
        <p:spPr>
          <a:xfrm>
            <a:off x="1799273" y="6434733"/>
            <a:ext cx="784848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Probe — измеряем время доступа к своим линиям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60095" y="7232690"/>
            <a:ext cx="131102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B9C0435-78C7-33A3-6C9C-DBA2253D5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5900" y="7598887"/>
            <a:ext cx="4254500" cy="520700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400DF7BA-E442-BC82-30BF-49B177097A9E}"/>
              </a:ext>
            </a:extLst>
          </p:cNvPr>
          <p:cNvSpPr/>
          <p:nvPr/>
        </p:nvSpPr>
        <p:spPr>
          <a:xfrm>
            <a:off x="731996" y="56539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DB322E-39FD-1A7C-23AB-4AC17AB60DD8}"/>
              </a:ext>
            </a:extLst>
          </p:cNvPr>
          <p:cNvSpPr txBox="1"/>
          <p:nvPr/>
        </p:nvSpPr>
        <p:spPr>
          <a:xfrm>
            <a:off x="1182946" y="851951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0" dirty="0" err="1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Prime+Probe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2053" y="2197383"/>
            <a:ext cx="5089251" cy="2610144"/>
          </a:xfrm>
          <a:prstGeom prst="roundRect">
            <a:avLst>
              <a:gd name="adj" fmla="val 5528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45" y="2310629"/>
            <a:ext cx="462388" cy="3699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7331" y="2401359"/>
            <a:ext cx="4213676" cy="148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Оптимизация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процессоров для повышения производительности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Процессор предсказывает условные переходы (branch prediction)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-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Исполняет инструкции до проверки условия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559468" y="2165716"/>
            <a:ext cx="8919335" cy="2641811"/>
          </a:xfrm>
          <a:prstGeom prst="roundRect">
            <a:avLst>
              <a:gd name="adj" fmla="val 3575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921" y="2270076"/>
            <a:ext cx="481094" cy="3849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62015" y="2295663"/>
            <a:ext cx="3431968" cy="38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Проблема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57258" y="2727922"/>
            <a:ext cx="8318959" cy="83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Микроархитектурные изменения не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всегда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откатываются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: </a:t>
            </a: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к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эш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, TLB, </a:t>
            </a:r>
            <a:endParaRPr lang="ru-RU" sz="2000" dirty="0">
              <a:solidFill>
                <a:srgbClr val="FFFFFF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предсказатель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переходов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756831" y="3483667"/>
            <a:ext cx="5812634" cy="38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→ Возникает разрыв между архитектурной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моделью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и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реальным поведением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756831" y="389621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→ Возможность утечки данных через кэш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и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микроархитектурные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каналы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E4D6E0F-C06B-AE14-E228-105023A15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204" y="7096770"/>
            <a:ext cx="2514600" cy="1016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F6F536-F21F-3313-9577-F05F4587F00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977" b="91715" l="5242" r="94422">
                        <a14:foregroundMark x1="23051" y1="64390" x2="23051" y2="64390"/>
                        <a14:foregroundMark x1="19220" y1="47384" x2="19220" y2="47384"/>
                        <a14:foregroundMark x1="13374" y1="44913" x2="13374" y2="44913"/>
                        <a14:foregroundMark x1="13374" y1="45203" x2="13374" y2="45203"/>
                        <a14:foregroundMark x1="10215" y1="65407" x2="10215" y2="65407"/>
                        <a14:foregroundMark x1="5242" y1="57122" x2="5242" y2="57122"/>
                        <a14:foregroundMark x1="24059" y1="27180" x2="24059" y2="27180"/>
                        <a14:foregroundMark x1="29435" y1="39099" x2="29435" y2="39099"/>
                        <a14:foregroundMark x1="26882" y1="26744" x2="26882" y2="26744"/>
                        <a14:foregroundMark x1="29570" y1="28634" x2="29570" y2="28634"/>
                        <a14:foregroundMark x1="35081" y1="56686" x2="35081" y2="56686"/>
                        <a14:foregroundMark x1="34946" y1="78779" x2="34946" y2="78779"/>
                        <a14:foregroundMark x1="36223" y1="75145" x2="36223" y2="75145"/>
                        <a14:foregroundMark x1="36223" y1="75581" x2="36223" y2="75581"/>
                        <a14:foregroundMark x1="25605" y1="62936" x2="25605" y2="62936"/>
                        <a14:foregroundMark x1="34745" y1="84157" x2="34745" y2="84157"/>
                        <a14:foregroundMark x1="23387" y1="54215" x2="23387" y2="54215"/>
                        <a14:foregroundMark x1="26411" y1="44186" x2="26411" y2="44186"/>
                        <a14:foregroundMark x1="44086" y1="51744" x2="44086" y2="51744"/>
                        <a14:foregroundMark x1="44758" y1="48837" x2="44758" y2="48837"/>
                        <a14:foregroundMark x1="14919" y1="66860" x2="14919" y2="66860"/>
                        <a14:foregroundMark x1="71102" y1="7267" x2="71102" y2="7267"/>
                        <a14:foregroundMark x1="90995" y1="37936" x2="90995" y2="37936"/>
                        <a14:foregroundMark x1="94489" y1="40552" x2="94489" y2="40552"/>
                        <a14:foregroundMark x1="75269" y1="91715" x2="75269" y2="91715"/>
                        <a14:foregroundMark x1="53091" y1="40552" x2="53091" y2="40552"/>
                        <a14:foregroundMark x1="53763" y1="39099" x2="53763" y2="39099"/>
                        <a14:foregroundMark x1="53091" y1="40843" x2="53091" y2="40843"/>
                      </a14:backgroundRemoval>
                    </a14:imgEffect>
                    <a14:imgEffect>
                      <a14:artisticGlowEdges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6455" y="4202323"/>
            <a:ext cx="9349821" cy="4391965"/>
          </a:xfrm>
          <a:prstGeom prst="rect">
            <a:avLst/>
          </a:prstGeom>
        </p:spPr>
      </p:pic>
      <p:sp>
        <p:nvSpPr>
          <p:cNvPr id="14" name="Shape 1">
            <a:extLst>
              <a:ext uri="{FF2B5EF4-FFF2-40B4-BE49-F238E27FC236}">
                <a16:creationId xmlns:a16="http://schemas.microsoft.com/office/drawing/2014/main" id="{DED84B94-65BA-94B8-00DF-A515593AE845}"/>
              </a:ext>
            </a:extLst>
          </p:cNvPr>
          <p:cNvSpPr/>
          <p:nvPr/>
        </p:nvSpPr>
        <p:spPr>
          <a:xfrm>
            <a:off x="731996" y="59310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D26EF7-05CF-8E4F-1EB5-AEDC97B791A7}"/>
              </a:ext>
            </a:extLst>
          </p:cNvPr>
          <p:cNvSpPr txBox="1"/>
          <p:nvPr/>
        </p:nvSpPr>
        <p:spPr>
          <a:xfrm>
            <a:off x="1037198" y="866573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Спекулятивное исполнение: что это?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54023" y="2132528"/>
            <a:ext cx="13122354" cy="1406604"/>
          </a:xfrm>
          <a:prstGeom prst="roundRect">
            <a:avLst>
              <a:gd name="adj" fmla="val 6433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07" y="2390894"/>
            <a:ext cx="420280" cy="3361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54110" y="2390894"/>
            <a:ext cx="1220688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Принцип действия</a:t>
            </a:r>
            <a:endParaRPr lang="en-US" sz="2000" b="1" dirty="0"/>
          </a:p>
        </p:txBody>
      </p:sp>
      <p:sp>
        <p:nvSpPr>
          <p:cNvPr id="6" name="Text 2"/>
          <p:cNvSpPr/>
          <p:nvPr/>
        </p:nvSpPr>
        <p:spPr>
          <a:xfrm>
            <a:off x="1454110" y="2911197"/>
            <a:ext cx="1220688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Branch Predictor + Спекулятивное исполнение + Кэш-канал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54023" y="4970681"/>
            <a:ext cx="13122354" cy="2443877"/>
          </a:xfrm>
          <a:prstGeom prst="roundRect">
            <a:avLst>
              <a:gd name="adj" fmla="val 370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5"/>
          <p:cNvSpPr/>
          <p:nvPr/>
        </p:nvSpPr>
        <p:spPr>
          <a:xfrm>
            <a:off x="761643" y="4978301"/>
            <a:ext cx="3276719" cy="2428637"/>
          </a:xfrm>
          <a:prstGeom prst="roundRect">
            <a:avLst>
              <a:gd name="adj" fmla="val 3726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6"/>
          <p:cNvSpPr/>
          <p:nvPr/>
        </p:nvSpPr>
        <p:spPr>
          <a:xfrm>
            <a:off x="996672" y="5562421"/>
            <a:ext cx="2560558" cy="12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Спекулятивно читается секретный байт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038362" y="4978301"/>
            <a:ext cx="3276838" cy="2428637"/>
          </a:xfrm>
          <a:prstGeom prst="rect">
            <a:avLst/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/>
          <p:cNvSpPr/>
          <p:nvPr/>
        </p:nvSpPr>
        <p:spPr>
          <a:xfrm>
            <a:off x="4038362" y="4978301"/>
            <a:ext cx="30480" cy="2428637"/>
          </a:xfrm>
          <a:prstGeom prst="roundRect">
            <a:avLst>
              <a:gd name="adj" fmla="val 296889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4428887" y="5617548"/>
            <a:ext cx="2765108" cy="201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Значение влияет на микроархитектурное состояние (кэш)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769043" y="5923300"/>
            <a:ext cx="538639" cy="538639"/>
          </a:xfrm>
          <a:prstGeom prst="roundRect">
            <a:avLst>
              <a:gd name="adj" fmla="val 16800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702" y="6057841"/>
            <a:ext cx="269319" cy="26931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15200" y="4978301"/>
            <a:ext cx="3276719" cy="2428637"/>
          </a:xfrm>
          <a:prstGeom prst="rect">
            <a:avLst/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7315200" y="4978301"/>
            <a:ext cx="30480" cy="2428637"/>
          </a:xfrm>
          <a:prstGeom prst="roundRect">
            <a:avLst>
              <a:gd name="adj" fmla="val 296889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3"/>
          <p:cNvSpPr/>
          <p:nvPr/>
        </p:nvSpPr>
        <p:spPr>
          <a:xfrm>
            <a:off x="7811570" y="5485686"/>
            <a:ext cx="2480549" cy="168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Атакующий измеряет через Flush+Reload / Prime+Probe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045881" y="5923300"/>
            <a:ext cx="538639" cy="538639"/>
          </a:xfrm>
          <a:prstGeom prst="roundRect">
            <a:avLst>
              <a:gd name="adj" fmla="val 16800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0540" y="6057841"/>
            <a:ext cx="269319" cy="269319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0591919" y="4978301"/>
            <a:ext cx="3276838" cy="2428637"/>
          </a:xfrm>
          <a:prstGeom prst="rect">
            <a:avLst/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6"/>
          <p:cNvSpPr/>
          <p:nvPr/>
        </p:nvSpPr>
        <p:spPr>
          <a:xfrm>
            <a:off x="10591919" y="4978301"/>
            <a:ext cx="30480" cy="2428637"/>
          </a:xfrm>
          <a:prstGeom prst="roundRect">
            <a:avLst>
              <a:gd name="adj" fmla="val 296889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7"/>
          <p:cNvSpPr/>
          <p:nvPr/>
        </p:nvSpPr>
        <p:spPr>
          <a:xfrm>
            <a:off x="11073051" y="5687615"/>
            <a:ext cx="2560677" cy="100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Получение секрета по байту за итерацию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10322600" y="5923300"/>
            <a:ext cx="538639" cy="538639"/>
          </a:xfrm>
          <a:prstGeom prst="roundRect">
            <a:avLst>
              <a:gd name="adj" fmla="val 16800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7259" y="6057841"/>
            <a:ext cx="269319" cy="269319"/>
          </a:xfrm>
          <a:prstGeom prst="rect">
            <a:avLst/>
          </a:prstGeom>
        </p:spPr>
      </p:pic>
      <p:pic>
        <p:nvPicPr>
          <p:cNvPr id="28" name="Рисунок 27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25F4E5-D915-16CE-84C6-9BA6681D1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1100" y="7567136"/>
            <a:ext cx="3289300" cy="546100"/>
          </a:xfrm>
          <a:prstGeom prst="rect">
            <a:avLst/>
          </a:prstGeom>
        </p:spPr>
      </p:pic>
      <p:sp>
        <p:nvSpPr>
          <p:cNvPr id="29" name="Shape 0">
            <a:extLst>
              <a:ext uri="{FF2B5EF4-FFF2-40B4-BE49-F238E27FC236}">
                <a16:creationId xmlns:a16="http://schemas.microsoft.com/office/drawing/2014/main" id="{207EB89B-936D-5591-9F6D-592CE9D018D1}"/>
              </a:ext>
            </a:extLst>
          </p:cNvPr>
          <p:cNvSpPr/>
          <p:nvPr/>
        </p:nvSpPr>
        <p:spPr>
          <a:xfrm>
            <a:off x="4602094" y="3738026"/>
            <a:ext cx="5426209" cy="1010127"/>
          </a:xfrm>
          <a:prstGeom prst="roundRect">
            <a:avLst>
              <a:gd name="adj" fmla="val 6433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3"/>
          <p:cNvSpPr/>
          <p:nvPr/>
        </p:nvSpPr>
        <p:spPr>
          <a:xfrm>
            <a:off x="5655156" y="4025682"/>
            <a:ext cx="3231833" cy="4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0F4F1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Механизм утечки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126171B5-55C9-1C1B-F7A0-E5C1295CE83E}"/>
              </a:ext>
            </a:extLst>
          </p:cNvPr>
          <p:cNvSpPr/>
          <p:nvPr/>
        </p:nvSpPr>
        <p:spPr>
          <a:xfrm>
            <a:off x="731996" y="59310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2211B2-C5F0-F530-DE9D-B0A47D6E6976}"/>
              </a:ext>
            </a:extLst>
          </p:cNvPr>
          <p:cNvSpPr txBox="1"/>
          <p:nvPr/>
        </p:nvSpPr>
        <p:spPr>
          <a:xfrm>
            <a:off x="1145820" y="879661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0" dirty="0" err="1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Spectre</a:t>
            </a:r>
            <a:r>
              <a:rPr lang="en-US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 </a:t>
            </a:r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как комбинация атак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66A96609-9429-0D60-FAFA-6DDE32B5CC36}"/>
              </a:ext>
            </a:extLst>
          </p:cNvPr>
          <p:cNvSpPr/>
          <p:nvPr/>
        </p:nvSpPr>
        <p:spPr>
          <a:xfrm>
            <a:off x="731996" y="4487469"/>
            <a:ext cx="6513790" cy="650319"/>
          </a:xfrm>
          <a:prstGeom prst="roundRect">
            <a:avLst>
              <a:gd name="adj" fmla="val 14649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731996" y="2803104"/>
            <a:ext cx="6513790" cy="650319"/>
          </a:xfrm>
          <a:prstGeom prst="roundRect">
            <a:avLst>
              <a:gd name="adj" fmla="val 14649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958810" y="29468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Кэш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8133" y="46061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Branch predictor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996" y="3453423"/>
            <a:ext cx="6513790" cy="1049219"/>
          </a:xfrm>
          <a:prstGeom prst="rect">
            <a:avLst/>
          </a:prstGeom>
          <a:solidFill>
            <a:srgbClr val="957D00"/>
          </a:solidFill>
          <a:ln/>
          <a:effectLst>
            <a:glow>
              <a:schemeClr val="accent1">
                <a:alpha val="40000"/>
              </a:schemeClr>
            </a:glow>
            <a:softEdge rad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1" name="Text 8"/>
          <p:cNvSpPr/>
          <p:nvPr/>
        </p:nvSpPr>
        <p:spPr>
          <a:xfrm>
            <a:off x="958810" y="3597132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Intel CAT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— логическое разделение L3-кэша между приложениями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1996" y="5137788"/>
            <a:ext cx="6513790" cy="1648301"/>
          </a:xfrm>
          <a:prstGeom prst="rect">
            <a:avLst/>
          </a:prstGeom>
          <a:solidFill>
            <a:srgbClr val="957D00"/>
          </a:solidFill>
          <a:ln/>
        </p:spPr>
        <p:txBody>
          <a:bodyPr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IBRS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ограничивает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привилегированное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влияние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STIBP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защищает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влияния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SMT-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потоков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BPB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очищает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состояние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предсказателя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86889" y="64231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45824" y="442448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545824" y="492347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93790" y="6310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56928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20" name="Рисунок 19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3D68FD-0FC9-16F1-9986-74F7A9F86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200" y="7404100"/>
            <a:ext cx="2616200" cy="825500"/>
          </a:xfrm>
          <a:prstGeom prst="rect">
            <a:avLst/>
          </a:prstGeom>
        </p:spPr>
      </p:pic>
      <p:sp>
        <p:nvSpPr>
          <p:cNvPr id="21" name="Shape 1">
            <a:extLst>
              <a:ext uri="{FF2B5EF4-FFF2-40B4-BE49-F238E27FC236}">
                <a16:creationId xmlns:a16="http://schemas.microsoft.com/office/drawing/2014/main" id="{AD392AC1-DFDD-D635-F144-E83471264557}"/>
              </a:ext>
            </a:extLst>
          </p:cNvPr>
          <p:cNvSpPr/>
          <p:nvPr/>
        </p:nvSpPr>
        <p:spPr>
          <a:xfrm>
            <a:off x="731996" y="59310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153294-D39D-9F0F-6016-401A7064D138}"/>
              </a:ext>
            </a:extLst>
          </p:cNvPr>
          <p:cNvSpPr txBox="1"/>
          <p:nvPr/>
        </p:nvSpPr>
        <p:spPr>
          <a:xfrm>
            <a:off x="1118614" y="850164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Аппаратные методы защиты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32D67B8-E4D6-4429-68D7-32279DB2C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923" y="2209683"/>
            <a:ext cx="7129395" cy="5545085"/>
          </a:xfrm>
          <a:prstGeom prst="rect">
            <a:avLst/>
          </a:prstGeom>
          <a:effectLst>
            <a:softEdge rad="530617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33948" y="334845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Retpoline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- замена косвенных </a:t>
            </a: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переходов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rgbClr val="D7E5D8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через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возврат из функции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33950" y="428077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LFENCE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барьер для </a:t>
            </a: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спекулятивного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rgbClr val="D7E5D8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исполнения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33947" y="526472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Constant-time алгоритмы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защита </a:t>
            </a: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от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rgbClr val="D7E5D8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кэш-утечек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33947" y="614952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Отключение SMT</a:t>
            </a: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— для критичных сред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 flipH="1">
            <a:off x="793788" y="2389209"/>
            <a:ext cx="45719" cy="4678018"/>
          </a:xfrm>
          <a:prstGeom prst="rect">
            <a:avLst/>
          </a:prstGeom>
          <a:solidFill>
            <a:srgbClr val="A9F00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93790" y="6208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E8C389D-B9F5-25B5-CABC-A901B8AD3865}"/>
              </a:ext>
            </a:extLst>
          </p:cNvPr>
          <p:cNvSpPr/>
          <p:nvPr/>
        </p:nvSpPr>
        <p:spPr>
          <a:xfrm>
            <a:off x="670437" y="781469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481E1-4855-8B19-4493-ECACA71269CB}"/>
              </a:ext>
            </a:extLst>
          </p:cNvPr>
          <p:cNvSpPr txBox="1"/>
          <p:nvPr/>
        </p:nvSpPr>
        <p:spPr>
          <a:xfrm>
            <a:off x="948133" y="1052892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Программные методы защиты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  <p:pic>
        <p:nvPicPr>
          <p:cNvPr id="12" name="Рисунок 11" descr="Изображение выглядит как чер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52B5E8-C578-9FC3-9E78-D0083A73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900" y="7444740"/>
            <a:ext cx="2603500" cy="6731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165FBD-DE7E-2821-F4DF-43FE92985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19347"/>
            <a:ext cx="7772400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51403" y="2457450"/>
            <a:ext cx="4240411" cy="1496497"/>
          </a:xfrm>
          <a:prstGeom prst="roundRect">
            <a:avLst>
              <a:gd name="adj" fmla="val 602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996553" y="2702600"/>
            <a:ext cx="3750112" cy="1006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Микроархитектура — полноценная поверхность атаки.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194935" y="2457450"/>
            <a:ext cx="4240411" cy="1496497"/>
          </a:xfrm>
          <a:prstGeom prst="roundRect">
            <a:avLst>
              <a:gd name="adj" fmla="val 602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5440085" y="2702600"/>
            <a:ext cx="3750112" cy="1006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Оптимизации производительности создают каналы утечки.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638467" y="2457450"/>
            <a:ext cx="4240411" cy="1496497"/>
          </a:xfrm>
          <a:prstGeom prst="roundRect">
            <a:avLst>
              <a:gd name="adj" fmla="val 602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9883616" y="2702600"/>
            <a:ext cx="3750112" cy="1006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Spectre показал системный характер проблемы.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51403" y="4182547"/>
            <a:ext cx="13127593" cy="1092279"/>
          </a:xfrm>
          <a:prstGeom prst="roundRect">
            <a:avLst>
              <a:gd name="adj" fmla="val 825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759023" y="4190167"/>
            <a:ext cx="13112353" cy="1077039"/>
          </a:xfrm>
          <a:prstGeom prst="roundRect">
            <a:avLst>
              <a:gd name="adj" fmla="val 8372"/>
            </a:avLst>
          </a:prstGeom>
          <a:solidFill>
            <a:srgbClr val="54780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113697" y="4526671"/>
            <a:ext cx="12401193" cy="67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yne Extra Bold" pitchFamily="34" charset="-122"/>
                <a:cs typeface="Times New Roman" panose="02020603050405020304" pitchFamily="18" charset="0"/>
              </a:rPr>
              <a:t>Методы защиты: уменьшают риск, но снижают производительность на 5–20% в зависимости от нагрузки.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1403" y="5503426"/>
            <a:ext cx="13127593" cy="1732359"/>
          </a:xfrm>
          <a:prstGeom prst="roundRect">
            <a:avLst>
              <a:gd name="adj" fmla="val 5205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36" y="5645287"/>
            <a:ext cx="417805" cy="3342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9674" y="5714124"/>
            <a:ext cx="1221521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Современные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серверные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ОС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включают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mitigations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по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умолчанию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что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особенно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важно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облачных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rgbClr val="FFFFFF"/>
              </a:solidFill>
              <a:latin typeface="Times New Roman" panose="02020603050405020304" pitchFamily="18" charset="0"/>
              <a:ea typeface="Syn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провайдеров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299673" y="6400641"/>
            <a:ext cx="12215217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yne" pitchFamily="34" charset="-122"/>
                <a:cs typeface="Times New Roman" panose="02020603050405020304" pitchFamily="18" charset="0"/>
              </a:rPr>
              <a:t>Главный вывод: безопасность должна учитываться при проектировании микроархитектуры, а не только на уровне программного обеспечения.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E5117E7-A087-07E6-2775-5E196650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528" y="7675083"/>
            <a:ext cx="1930400" cy="458824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4FCBDD3-2238-5680-5647-4BB4CBAFFE70}"/>
              </a:ext>
            </a:extLst>
          </p:cNvPr>
          <p:cNvSpPr/>
          <p:nvPr/>
        </p:nvSpPr>
        <p:spPr>
          <a:xfrm>
            <a:off x="731996" y="593108"/>
            <a:ext cx="13166169" cy="1166455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B4754E-35C2-40EF-8800-7B54B063CB56}"/>
              </a:ext>
            </a:extLst>
          </p:cNvPr>
          <p:cNvSpPr txBox="1"/>
          <p:nvPr/>
        </p:nvSpPr>
        <p:spPr>
          <a:xfrm>
            <a:off x="1032426" y="852962"/>
            <a:ext cx="7918776" cy="59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Итоговый анализ и выводы</a:t>
            </a:r>
            <a:endParaRPr lang="ru-RU" sz="32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1A5F-744D-07BB-DFE8-71F412AA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7AA13C9-7A2C-406B-76F9-678873C74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528" y="7675083"/>
            <a:ext cx="1930400" cy="458824"/>
          </a:xfrm>
          <a:prstGeom prst="rect">
            <a:avLst/>
          </a:prstGeom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4B8E3926-B051-5D96-7F68-74C4094CFA35}"/>
              </a:ext>
            </a:extLst>
          </p:cNvPr>
          <p:cNvSpPr/>
          <p:nvPr/>
        </p:nvSpPr>
        <p:spPr>
          <a:xfrm>
            <a:off x="2414993" y="2953543"/>
            <a:ext cx="10253535" cy="2485033"/>
          </a:xfrm>
          <a:prstGeom prst="roundRect">
            <a:avLst>
              <a:gd name="adj" fmla="val 7533"/>
            </a:avLst>
          </a:prstGeom>
          <a:solidFill>
            <a:srgbClr val="547808"/>
          </a:solidFill>
          <a:ln/>
          <a:effectLst>
            <a:glow rad="567580">
              <a:schemeClr val="accent6">
                <a:satMod val="175000"/>
                <a:alpha val="40000"/>
              </a:schemeClr>
            </a:glow>
            <a:outerShdw blurRad="301782" dist="50800" dir="6180000" sx="102000" sy="102000" algn="ctr" rotWithShape="0">
              <a:srgbClr val="000000">
                <a:alpha val="63000"/>
              </a:srgb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84290-3DC3-10C2-EA64-9363B199995C}"/>
              </a:ext>
            </a:extLst>
          </p:cNvPr>
          <p:cNvSpPr txBox="1"/>
          <p:nvPr/>
        </p:nvSpPr>
        <p:spPr>
          <a:xfrm>
            <a:off x="4150379" y="3730079"/>
            <a:ext cx="79187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kern="0" dirty="0">
                <a:solidFill>
                  <a:schemeClr val="bg1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50800" dist="50800" dir="5400000" sx="1000" sy="1000" algn="ctr" rotWithShape="0">
                    <a:srgbClr val="000000"/>
                  </a:outerShdw>
                  <a:reflection blurRad="203803" stA="68991" endPos="54078" dist="72769" dir="5400000" sy="-100000" algn="bl" rotWithShape="0"/>
                </a:effectLst>
                <a:latin typeface="Braggadocio" pitchFamily="82" charset="0"/>
                <a:ea typeface="Times New Roman" panose="02020603050405020304" pitchFamily="18" charset="0"/>
              </a:rPr>
              <a:t>Спасибо за внимание!</a:t>
            </a:r>
            <a:endParaRPr lang="ru-RU" sz="4400" b="1" dirty="0">
              <a:solidFill>
                <a:schemeClr val="bg1"/>
              </a:solidFill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/>
                </a:outerShdw>
                <a:reflection blurRad="203803" stA="68991" endPos="54078" dist="72769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638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537</Words>
  <Application>Microsoft Macintosh PowerPoint</Application>
  <PresentationFormat>Произвольный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Arabic Typesetting</vt:lpstr>
      <vt:lpstr>Braggadocio</vt:lpstr>
      <vt:lpstr>Arial</vt:lpstr>
      <vt:lpstr>Syne</vt:lpstr>
      <vt:lpstr>Times New Roman</vt:lpstr>
      <vt:lpstr>Syne Extra Bold</vt:lpstr>
      <vt:lpstr>APPLE CHANCERY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Косогова Мария Александровна</cp:lastModifiedBy>
  <cp:revision>4</cp:revision>
  <dcterms:created xsi:type="dcterms:W3CDTF">2026-03-17T19:03:18Z</dcterms:created>
  <dcterms:modified xsi:type="dcterms:W3CDTF">2026-03-18T17:45:42Z</dcterms:modified>
</cp:coreProperties>
</file>