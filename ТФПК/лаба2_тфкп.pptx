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8"/>
  </p:notesMasterIdLst>
  <p:sldIdLst>
    <p:sldId id="256" r:id="rId2"/>
    <p:sldId id="257" r:id="rId3"/>
    <p:sldId id="274" r:id="rId4"/>
    <p:sldId id="275" r:id="rId5"/>
    <p:sldId id="276" r:id="rId6"/>
    <p:sldId id="277" r:id="rId7"/>
    <p:sldId id="279" r:id="rId8"/>
    <p:sldId id="278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58" r:id="rId22"/>
    <p:sldId id="259" r:id="rId23"/>
    <p:sldId id="260" r:id="rId24"/>
    <p:sldId id="261" r:id="rId25"/>
    <p:sldId id="262" r:id="rId26"/>
    <p:sldId id="263" r:id="rId27"/>
    <p:sldId id="268" r:id="rId28"/>
    <p:sldId id="264" r:id="rId29"/>
    <p:sldId id="265" r:id="rId30"/>
    <p:sldId id="269" r:id="rId31"/>
    <p:sldId id="266" r:id="rId32"/>
    <p:sldId id="267" r:id="rId33"/>
    <p:sldId id="270" r:id="rId34"/>
    <p:sldId id="271" r:id="rId35"/>
    <p:sldId id="272" r:id="rId36"/>
    <p:sldId id="27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7" autoAdjust="0"/>
    <p:restoredTop sz="94672"/>
  </p:normalViewPr>
  <p:slideViewPr>
    <p:cSldViewPr snapToGrid="0" showGuides="1">
      <p:cViewPr>
        <p:scale>
          <a:sx n="66" d="100"/>
          <a:sy n="66" d="100"/>
        </p:scale>
        <p:origin x="588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5D8F2-9C47-4749-9C07-12EDCA6F2F23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0FA4F-670A-4745-873A-C3889CBB7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47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0FA4F-670A-4745-873A-C3889CBB7D8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47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33219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42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10169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89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28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99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34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28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4715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35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02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AF5B261-8084-48C9-957B-C956AB8297A5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8D4549F-B8B4-4781-9A50-B078A0F033B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69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8B63D-7D69-83F0-34A4-5BC408B4F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045" y="1658776"/>
            <a:ext cx="9969910" cy="3540448"/>
          </a:xfrm>
        </p:spPr>
        <p:txBody>
          <a:bodyPr anchor="b">
            <a:normAutofit/>
          </a:bodyPr>
          <a:lstStyle/>
          <a:p>
            <a:r>
              <a:rPr lang="ru-RU" sz="4000" b="1" dirty="0"/>
              <a:t>ЛАБОРАТОРНАЯ РАБОТА 1</a:t>
            </a:r>
            <a:br>
              <a:rPr lang="ru-RU" sz="4000" b="1" dirty="0"/>
            </a:br>
            <a:r>
              <a:rPr lang="ru-RU" sz="4000" b="1" dirty="0"/>
              <a:t>Ряды Фурье</a:t>
            </a:r>
            <a:br>
              <a:rPr lang="ru-RU" sz="4000" dirty="0"/>
            </a:br>
            <a:br>
              <a:rPr lang="ru-RU" sz="4000" dirty="0"/>
            </a:br>
            <a:r>
              <a:rPr lang="ru-RU" sz="3200" dirty="0"/>
              <a:t>Работу выполнили:</a:t>
            </a:r>
            <a:br>
              <a:rPr lang="ru-RU" sz="3200" dirty="0"/>
            </a:br>
            <a:r>
              <a:rPr lang="ru-RU" sz="3200" dirty="0"/>
              <a:t>Федоров Дмитрий, Хахулина Светлана, Косогова Мария</a:t>
            </a:r>
            <a:br>
              <a:rPr lang="ru-RU" sz="3200" dirty="0"/>
            </a:b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9144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BA63B-9976-AC51-D670-832D20AF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 Вещественные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360CFD3-5B63-59A6-EBEB-0A98A86F2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9085" y="1665513"/>
                <a:ext cx="11054443" cy="4865915"/>
              </a:xfrm>
            </p:spPr>
            <p:txBody>
              <a:bodyPr>
                <a:normAutofit fontScale="62500" lnSpcReduction="20000"/>
              </a:bodyPr>
              <a:lstStyle/>
              <a:p>
                <a:pPr marL="457200" indent="-457200">
                  <a:buAutoNum type="arabicPeriod"/>
                </a:pPr>
                <a:r>
                  <a:rPr lang="ru-RU" sz="5100" dirty="0"/>
                  <a:t>Исходные функции и значения:</a:t>
                </a:r>
              </a:p>
              <a:p>
                <a:pPr marL="457200" indent="-457200">
                  <a:buAutoNum type="arabicPeriod"/>
                </a:pPr>
                <a:r>
                  <a:rPr lang="ru-RU" sz="5100" dirty="0"/>
                  <a:t>Квадратная волна: </a:t>
                </a:r>
                <a14:m>
                  <m:oMath xmlns:m="http://schemas.openxmlformats.org/officeDocument/2006/math">
                    <m:r>
                      <a:rPr lang="en-US" sz="5100" i="1"/>
                      <m:t>𝑓</m:t>
                    </m:r>
                    <m:d>
                      <m:dPr>
                        <m:ctrlPr>
                          <a:rPr lang="ru-RU" sz="5100" i="1"/>
                        </m:ctrlPr>
                      </m:dPr>
                      <m:e>
                        <m:r>
                          <a:rPr lang="en-US" sz="5100" i="1"/>
                          <m:t>𝑡</m:t>
                        </m:r>
                      </m:e>
                    </m:d>
                    <m:r>
                      <a:rPr lang="ru-RU" sz="5100" i="1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sz="5100" i="1"/>
                        </m:ctrlPr>
                      </m:dPr>
                      <m:e>
                        <m:eqArr>
                          <m:eqArrPr>
                            <m:ctrlPr>
                              <a:rPr lang="ru-RU" sz="5100" i="1"/>
                            </m:ctrlPr>
                          </m:eqArrPr>
                          <m:e>
                            <m:r>
                              <a:rPr lang="en-US" sz="5100" i="1"/>
                              <m:t>𝑎</m:t>
                            </m:r>
                            <m:r>
                              <a:rPr lang="ru-RU" sz="5100" i="1"/>
                              <m:t>, </m:t>
                            </m:r>
                            <m:r>
                              <a:rPr lang="en-US" sz="5100" i="1"/>
                              <m:t>𝑡</m:t>
                            </m:r>
                            <m:r>
                              <a:rPr lang="ru-RU" sz="5100" i="1"/>
                              <m:t>∈[</m:t>
                            </m:r>
                            <m:sSub>
                              <m:sSubPr>
                                <m:ctrlPr>
                                  <a:rPr lang="ru-RU" sz="5100" i="1"/>
                                </m:ctrlPr>
                              </m:sSubPr>
                              <m:e>
                                <m:r>
                                  <a:rPr lang="en-US" sz="5100" i="1"/>
                                  <m:t>𝑡</m:t>
                                </m:r>
                              </m:e>
                              <m:sub>
                                <m:r>
                                  <a:rPr lang="ru-RU" sz="5100" i="1"/>
                                  <m:t>0</m:t>
                                </m:r>
                              </m:sub>
                            </m:sSub>
                            <m:r>
                              <a:rPr lang="ru-RU" sz="5100" i="1"/>
                              <m:t>, </m:t>
                            </m:r>
                            <m:sSub>
                              <m:sSubPr>
                                <m:ctrlPr>
                                  <a:rPr lang="ru-RU" sz="5100" i="1"/>
                                </m:ctrlPr>
                              </m:sSubPr>
                              <m:e>
                                <m:r>
                                  <a:rPr lang="en-US" sz="5100" i="1"/>
                                  <m:t>𝑡</m:t>
                                </m:r>
                              </m:e>
                              <m:sub>
                                <m:r>
                                  <a:rPr lang="ru-RU" sz="5100" i="1"/>
                                  <m:t>1</m:t>
                                </m:r>
                              </m:sub>
                            </m:sSub>
                            <m:r>
                              <a:rPr lang="ru-RU" sz="5100" i="1"/>
                              <m:t>)</m:t>
                            </m:r>
                          </m:e>
                          <m:e>
                            <m:r>
                              <a:rPr lang="en-US" sz="5100" i="1"/>
                              <m:t>𝑏</m:t>
                            </m:r>
                            <m:r>
                              <a:rPr lang="ru-RU" sz="5100" i="1"/>
                              <m:t>, </m:t>
                            </m:r>
                            <m:r>
                              <a:rPr lang="en-US" sz="5100" i="1"/>
                              <m:t>𝑡</m:t>
                            </m:r>
                            <m:r>
                              <a:rPr lang="ru-RU" sz="5100" i="1"/>
                              <m:t>∈[</m:t>
                            </m:r>
                            <m:sSub>
                              <m:sSubPr>
                                <m:ctrlPr>
                                  <a:rPr lang="ru-RU" sz="5100" i="1"/>
                                </m:ctrlPr>
                              </m:sSubPr>
                              <m:e>
                                <m:r>
                                  <a:rPr lang="en-US" sz="5100" i="1"/>
                                  <m:t>𝑡</m:t>
                                </m:r>
                              </m:e>
                              <m:sub>
                                <m:r>
                                  <a:rPr lang="ru-RU" sz="5100" i="1"/>
                                  <m:t>1</m:t>
                                </m:r>
                              </m:sub>
                            </m:sSub>
                            <m:r>
                              <a:rPr lang="ru-RU" sz="5100" i="1"/>
                              <m:t>, </m:t>
                            </m:r>
                            <m:sSub>
                              <m:sSubPr>
                                <m:ctrlPr>
                                  <a:rPr lang="ru-RU" sz="5100" i="1"/>
                                </m:ctrlPr>
                              </m:sSubPr>
                              <m:e>
                                <m:r>
                                  <a:rPr lang="en-US" sz="5100" i="1"/>
                                  <m:t>𝑡</m:t>
                                </m:r>
                              </m:e>
                              <m:sub>
                                <m:r>
                                  <a:rPr lang="ru-RU" sz="5100" i="1"/>
                                  <m:t>2</m:t>
                                </m:r>
                              </m:sub>
                            </m:sSub>
                            <m:r>
                              <a:rPr lang="ru-RU" sz="5100" i="1"/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ru-RU" sz="5100" dirty="0"/>
              </a:p>
              <a:p>
                <a:pPr marL="0" indent="0">
                  <a:buNone/>
                </a:pPr>
                <a:r>
                  <a:rPr lang="ru-RU" sz="5100" dirty="0"/>
                  <a:t>	a = 1, b = 2, t0 = 0, t1 = 1, t2 = 2, T = t2 − t0 = 2</a:t>
                </a:r>
              </a:p>
              <a:p>
                <a:pPr marL="457200" indent="-457200">
                  <a:buAutoNum type="arabicPeriod"/>
                </a:pPr>
                <a:endParaRPr lang="ru-RU" sz="5100" dirty="0"/>
              </a:p>
              <a:p>
                <a:pPr marL="0" indent="0">
                  <a:buNone/>
                </a:pPr>
                <a:r>
                  <a:rPr lang="ru-RU" sz="5100" dirty="0"/>
                  <a:t>2. Чётная периодическая функция: </a:t>
                </a:r>
                <a14:m>
                  <m:oMath xmlns:m="http://schemas.openxmlformats.org/officeDocument/2006/math">
                    <m:r>
                      <a:rPr lang="en-US" sz="5100" i="1"/>
                      <m:t>𝑓</m:t>
                    </m:r>
                    <m:d>
                      <m:dPr>
                        <m:ctrlPr>
                          <a:rPr lang="ru-RU" sz="5100" i="1"/>
                        </m:ctrlPr>
                      </m:dPr>
                      <m:e>
                        <m:r>
                          <a:rPr lang="en-US" sz="5100" i="1"/>
                          <m:t>𝑡</m:t>
                        </m:r>
                      </m:e>
                    </m:d>
                    <m:r>
                      <a:rPr lang="ru-RU" sz="5100" i="1"/>
                      <m:t>=|</m:t>
                    </m:r>
                    <m:r>
                      <m:rPr>
                        <m:sty m:val="p"/>
                      </m:rPr>
                      <a:rPr lang="en-US" sz="5100"/>
                      <m:t>cos</m:t>
                    </m:r>
                    <m:r>
                      <a:rPr lang="ru-RU" sz="5100" i="1"/>
                      <m:t>(</m:t>
                    </m:r>
                    <m:r>
                      <a:rPr lang="en-US" sz="5100" i="1"/>
                      <m:t>𝑡</m:t>
                    </m:r>
                    <m:r>
                      <a:rPr lang="ru-RU" sz="5100" i="1"/>
                      <m:t>)|</m:t>
                    </m:r>
                  </m:oMath>
                </a14:m>
                <a:r>
                  <a:rPr lang="ru-RU" sz="5100" dirty="0"/>
                  <a:t>, </a:t>
                </a:r>
                <a14:m>
                  <m:oMath xmlns:m="http://schemas.openxmlformats.org/officeDocument/2006/math">
                    <m:r>
                      <a:rPr lang="ru-RU" sz="5100" i="1"/>
                      <m:t>𝑇</m:t>
                    </m:r>
                    <m:r>
                      <a:rPr lang="ru-RU" sz="5100" i="1"/>
                      <m:t>=</m:t>
                    </m:r>
                    <m:r>
                      <a:rPr lang="ru-RU" sz="5100" i="1"/>
                      <m:t>𝜋</m:t>
                    </m:r>
                  </m:oMath>
                </a14:m>
                <a:endParaRPr lang="ru-RU" sz="5100" dirty="0"/>
              </a:p>
              <a:p>
                <a:pPr marL="0" indent="0">
                  <a:buNone/>
                </a:pPr>
                <a:r>
                  <a:rPr lang="ru-RU" sz="5100" dirty="0"/>
                  <a:t>3.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5100" i="1"/>
                      <m:t>𝑓</m:t>
                    </m:r>
                    <m:d>
                      <m:dPr>
                        <m:ctrlPr>
                          <a:rPr lang="ru-RU" sz="5100" i="1"/>
                        </m:ctrlPr>
                      </m:dPr>
                      <m:e>
                        <m:r>
                          <a:rPr lang="en-US" sz="5100" i="1"/>
                          <m:t>𝑡</m:t>
                        </m:r>
                      </m:e>
                    </m:d>
                    <m:r>
                      <a:rPr lang="ru-RU" sz="5100" i="1"/>
                      <m:t>=</m:t>
                    </m:r>
                    <m:r>
                      <m:rPr>
                        <m:sty m:val="p"/>
                      </m:rPr>
                      <a:rPr lang="en-US" sz="5100"/>
                      <m:t>sin</m:t>
                    </m:r>
                    <m:d>
                      <m:dPr>
                        <m:ctrlPr>
                          <a:rPr lang="ru-RU" sz="5100" i="1"/>
                        </m:ctrlPr>
                      </m:dPr>
                      <m:e>
                        <m:r>
                          <a:rPr lang="en-US" sz="5100" i="1"/>
                          <m:t>𝑡</m:t>
                        </m:r>
                      </m:e>
                    </m:d>
                    <m:r>
                      <a:rPr lang="ru-RU" sz="5100" i="1"/>
                      <m:t>,   </m:t>
                    </m:r>
                    <m:r>
                      <a:rPr lang="ru-RU" sz="5100" i="1"/>
                      <m:t>𝑇</m:t>
                    </m:r>
                    <m:r>
                      <a:rPr lang="ru-RU" sz="5100" i="1"/>
                      <m:t>=2</m:t>
                    </m:r>
                    <m:r>
                      <a:rPr lang="ru-RU" sz="5100" i="1"/>
                      <m:t>𝜋</m:t>
                    </m:r>
                  </m:oMath>
                </a14:m>
                <a:endParaRPr lang="ru-RU" sz="5100" dirty="0"/>
              </a:p>
              <a:p>
                <a:pPr marL="0" indent="0">
                  <a:buNone/>
                </a:pPr>
                <a:r>
                  <a:rPr lang="ru-RU" sz="5100" dirty="0"/>
                  <a:t>4. Ни чётная, ни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5100" i="1"/>
                      <m:t>𝑓</m:t>
                    </m:r>
                    <m:d>
                      <m:dPr>
                        <m:ctrlPr>
                          <a:rPr lang="ru-RU" sz="5100" i="1"/>
                        </m:ctrlPr>
                      </m:dPr>
                      <m:e>
                        <m:r>
                          <a:rPr lang="en-US" sz="5100" i="1"/>
                          <m:t>𝑡</m:t>
                        </m:r>
                      </m:e>
                    </m:d>
                    <m:r>
                      <a:rPr lang="ru-RU" sz="5100" i="1"/>
                      <m:t>=</m:t>
                    </m:r>
                    <m:r>
                      <m:rPr>
                        <m:sty m:val="p"/>
                      </m:rPr>
                      <a:rPr lang="en-US" sz="5100"/>
                      <m:t>sin</m:t>
                    </m:r>
                    <m:d>
                      <m:dPr>
                        <m:ctrlPr>
                          <a:rPr lang="ru-RU" sz="5100" i="1"/>
                        </m:ctrlPr>
                      </m:dPr>
                      <m:e>
                        <m:r>
                          <a:rPr lang="en-US" sz="5100" i="1"/>
                          <m:t>𝑡</m:t>
                        </m:r>
                      </m:e>
                    </m:d>
                    <m:r>
                      <a:rPr lang="ru-RU" sz="5100" i="1"/>
                      <m:t>+0,5</m:t>
                    </m:r>
                    <m:r>
                      <m:rPr>
                        <m:sty m:val="p"/>
                      </m:rPr>
                      <a:rPr lang="en-US" sz="5100"/>
                      <m:t>cos</m:t>
                    </m:r>
                    <m:r>
                      <a:rPr lang="en-US" sz="5100" i="1"/>
                      <m:t>,</m:t>
                    </m:r>
                    <m:r>
                      <a:rPr lang="ru-RU" sz="5100" i="1"/>
                      <m:t>(</m:t>
                    </m:r>
                  </m:oMath>
                </a14:m>
                <a:r>
                  <a:rPr lang="ru-RU" sz="5100" dirty="0"/>
                  <a:t>2</a:t>
                </a:r>
                <a:r>
                  <a:rPr lang="en-US" sz="5100" dirty="0"/>
                  <a:t>𝑡</a:t>
                </a:r>
                <a:r>
                  <a:rPr lang="en-US" sz="5100" i="1" dirty="0"/>
                  <a:t>.</a:t>
                </a:r>
                <a:r>
                  <a:rPr lang="ru-RU" sz="5100" dirty="0"/>
                  <a:t>), </a:t>
                </a:r>
                <a14:m>
                  <m:oMath xmlns:m="http://schemas.openxmlformats.org/officeDocument/2006/math">
                    <m:r>
                      <a:rPr lang="ru-RU" sz="5100" i="1"/>
                      <m:t>𝑇</m:t>
                    </m:r>
                    <m:r>
                      <a:rPr lang="ru-RU" sz="5100" i="1"/>
                      <m:t>=2</m:t>
                    </m:r>
                    <m:r>
                      <a:rPr lang="ru-RU" sz="5100" i="1"/>
                      <m:t>𝜋</m:t>
                    </m:r>
                  </m:oMath>
                </a14:m>
                <a:endParaRPr lang="ru-RU" sz="5100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360CFD3-5B63-59A6-EBEB-0A98A86F2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9085" y="1665513"/>
                <a:ext cx="11054443" cy="4865915"/>
              </a:xfrm>
              <a:blipFill>
                <a:blip r:embed="rId2"/>
                <a:stretch>
                  <a:fillRect l="-1378" t="-41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57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F6579-CD8F-922E-2801-4F91B491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Значения коэффициентов: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AF45F7-BBAC-0B81-6E85-C25527D7F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5029" y="1551214"/>
                <a:ext cx="10907485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3000" i="1" dirty="0"/>
                  <a:t>Формулы для коэффициентов: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/>
                        </m:ctrlPr>
                      </m:sSubPr>
                      <m:e>
                        <m:r>
                          <a:rPr lang="ru-RU" sz="3000" i="1"/>
                          <m:t>𝑎</m:t>
                        </m:r>
                      </m:e>
                      <m:sub>
                        <m:r>
                          <a:rPr lang="ru-RU" sz="3000" i="1"/>
                          <m:t>𝑛</m:t>
                        </m:r>
                      </m:sub>
                    </m:sSub>
                    <m:r>
                      <a:rPr lang="ru-RU" sz="3000" i="1"/>
                      <m:t>=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ru-RU" sz="3000" i="1"/>
                          <m:t>2</m:t>
                        </m:r>
                      </m:num>
                      <m:den>
                        <m:r>
                          <a:rPr lang="ru-RU" sz="3000" i="1"/>
                          <m:t>𝑇</m:t>
                        </m:r>
                      </m:den>
                    </m:f>
                    <m:nary>
                      <m:naryPr>
                        <m:ctrlPr>
                          <a:rPr lang="ru-RU" sz="3000" i="1"/>
                        </m:ctrlPr>
                      </m:naryPr>
                      <m:sub>
                        <m:sSub>
                          <m:sSubPr>
                            <m:ctrlPr>
                              <a:rPr lang="ru-RU" sz="3000" i="1"/>
                            </m:ctrlPr>
                          </m:sSubPr>
                          <m:e>
                            <m:r>
                              <a:rPr lang="ru-RU" sz="3000" i="1"/>
                              <m:t>𝑡</m:t>
                            </m:r>
                          </m:e>
                          <m:sub>
                            <m:r>
                              <a:rPr lang="ru-RU" sz="3000" i="1"/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ru-RU" sz="3000" i="1"/>
                            </m:ctrlPr>
                          </m:sSubPr>
                          <m:e>
                            <m:r>
                              <a:rPr lang="ru-RU" sz="3000" i="1"/>
                              <m:t>𝑡</m:t>
                            </m:r>
                          </m:e>
                          <m:sub>
                            <m:r>
                              <a:rPr lang="ru-RU" sz="3000" i="1"/>
                              <m:t>0</m:t>
                            </m:r>
                          </m:sub>
                        </m:sSub>
                        <m:r>
                          <a:rPr lang="ru-RU" sz="3000" i="1"/>
                          <m:t>+</m:t>
                        </m:r>
                        <m:r>
                          <a:rPr lang="ru-RU" sz="3000" i="1"/>
                          <m:t>𝑇</m:t>
                        </m:r>
                      </m:sup>
                      <m:e>
                        <m:r>
                          <a:rPr lang="ru-RU" sz="3000" i="1"/>
                          <m:t>𝑓</m:t>
                        </m:r>
                        <m:d>
                          <m:dPr>
                            <m:ctrlPr>
                              <a:rPr lang="ru-RU" sz="3000" i="1"/>
                            </m:ctrlPr>
                          </m:dPr>
                          <m:e>
                            <m:r>
                              <a:rPr lang="ru-RU" sz="3000" i="1"/>
                              <m:t>𝑡</m:t>
                            </m:r>
                          </m:e>
                        </m:d>
                        <m:func>
                          <m:funcPr>
                            <m:ctrlPr>
                              <a:rPr lang="ru-RU" sz="3000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sz="3000"/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ru-RU" sz="3000" i="1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3000" i="1"/>
                                    </m:ctrlPr>
                                  </m:sSubPr>
                                  <m:e>
                                    <m:r>
                                      <a:rPr lang="ru-RU" sz="3000" i="1"/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3000" i="1"/>
                                      <m:t>𝑛</m:t>
                                    </m:r>
                                  </m:sub>
                                </m:sSub>
                                <m:r>
                                  <a:rPr lang="ru-RU" sz="3000" i="1"/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ru-RU" sz="3000" i="1"/>
                          <m:t>𝑑𝑡</m:t>
                        </m:r>
                      </m:e>
                    </m:nary>
                  </m:oMath>
                </a14:m>
                <a:endParaRPr lang="ru-RU" sz="3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/>
                        </m:ctrlPr>
                      </m:sSubPr>
                      <m:e>
                        <m:r>
                          <a:rPr lang="en-US" sz="3000" i="1"/>
                          <m:t>𝑏</m:t>
                        </m:r>
                      </m:e>
                      <m:sub>
                        <m:r>
                          <a:rPr lang="en-US" sz="3000" i="1"/>
                          <m:t>𝑛</m:t>
                        </m:r>
                      </m:sub>
                    </m:sSub>
                    <m:r>
                      <a:rPr lang="en-US" sz="3000" i="1"/>
                      <m:t>=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en-US" sz="3000" i="1"/>
                          <m:t>2</m:t>
                        </m:r>
                      </m:num>
                      <m:den>
                        <m:r>
                          <a:rPr lang="en-US" sz="3000" i="1"/>
                          <m:t>𝑇</m:t>
                        </m:r>
                      </m:den>
                    </m:f>
                    <m:nary>
                      <m:naryPr>
                        <m:ctrlPr>
                          <a:rPr lang="ru-RU" sz="3000" i="1"/>
                        </m:ctrlPr>
                      </m:naryPr>
                      <m:sub>
                        <m:sSub>
                          <m:sSubPr>
                            <m:ctrlPr>
                              <a:rPr lang="ru-RU" sz="3000" i="1"/>
                            </m:ctrlPr>
                          </m:sSubPr>
                          <m:e>
                            <m:r>
                              <a:rPr lang="en-US" sz="3000" i="1"/>
                              <m:t>𝑡</m:t>
                            </m:r>
                          </m:e>
                          <m:sub>
                            <m:r>
                              <a:rPr lang="en-US" sz="3000" i="1"/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ru-RU" sz="3000" i="1"/>
                            </m:ctrlPr>
                          </m:sSubPr>
                          <m:e>
                            <m:r>
                              <a:rPr lang="en-US" sz="3000" i="1"/>
                              <m:t>𝑡</m:t>
                            </m:r>
                          </m:e>
                          <m:sub>
                            <m:r>
                              <a:rPr lang="en-US" sz="3000" i="1"/>
                              <m:t>0</m:t>
                            </m:r>
                          </m:sub>
                        </m:sSub>
                        <m:r>
                          <a:rPr lang="en-US" sz="3000" i="1"/>
                          <m:t>+</m:t>
                        </m:r>
                        <m:r>
                          <a:rPr lang="en-US" sz="3000" i="1"/>
                          <m:t>𝑇</m:t>
                        </m:r>
                      </m:sup>
                      <m:e>
                        <m:r>
                          <a:rPr lang="en-US" sz="3000" i="1"/>
                          <m:t>𝑓</m:t>
                        </m:r>
                        <m:d>
                          <m:dPr>
                            <m:ctrlPr>
                              <a:rPr lang="ru-RU" sz="3000" i="1"/>
                            </m:ctrlPr>
                          </m:dPr>
                          <m:e>
                            <m:r>
                              <a:rPr lang="en-US" sz="3000" i="1"/>
                              <m:t>𝑡</m:t>
                            </m:r>
                          </m:e>
                        </m:d>
                        <m:func>
                          <m:funcPr>
                            <m:ctrlPr>
                              <a:rPr lang="ru-RU" sz="3000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/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ru-RU" sz="3000" i="1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3000" i="1"/>
                                    </m:ctrlPr>
                                  </m:sSubPr>
                                  <m:e>
                                    <m:r>
                                      <a:rPr lang="en-US" sz="3000" i="1"/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3000" i="1"/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3000" i="1"/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US" sz="3000" i="1"/>
                          <m:t>𝑑𝑡</m:t>
                        </m:r>
                      </m:e>
                    </m:nary>
                  </m:oMath>
                </a14:m>
                <a:endParaRPr lang="ru-RU" sz="3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/>
                        </m:ctrlPr>
                      </m:sSubPr>
                      <m:e>
                        <m:r>
                          <a:rPr lang="en-US" sz="3000" i="1"/>
                          <m:t>𝑐</m:t>
                        </m:r>
                      </m:e>
                      <m:sub>
                        <m:r>
                          <a:rPr lang="en-US" sz="3000" i="1"/>
                          <m:t>𝑛</m:t>
                        </m:r>
                      </m:sub>
                    </m:sSub>
                    <m:r>
                      <a:rPr lang="en-US" sz="3000" i="1"/>
                      <m:t>= 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en-US" sz="3000" i="1"/>
                          <m:t>1</m:t>
                        </m:r>
                      </m:num>
                      <m:den>
                        <m:r>
                          <a:rPr lang="en-US" sz="3000" i="1"/>
                          <m:t>𝑇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ru-RU" sz="3000" i="1"/>
                        </m:ctrlPr>
                      </m:naryPr>
                      <m:sub>
                        <m:sSub>
                          <m:sSubPr>
                            <m:ctrlPr>
                              <a:rPr lang="ru-RU" sz="3000" i="1"/>
                            </m:ctrlPr>
                          </m:sSubPr>
                          <m:e>
                            <m:r>
                              <a:rPr lang="en-US" sz="3000" i="1"/>
                              <m:t>𝑡</m:t>
                            </m:r>
                          </m:e>
                          <m:sub>
                            <m:r>
                              <a:rPr lang="en-US" sz="3000" i="1"/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ru-RU" sz="3000" i="1"/>
                            </m:ctrlPr>
                          </m:sSubPr>
                          <m:e>
                            <m:r>
                              <a:rPr lang="en-US" sz="3000" i="1"/>
                              <m:t>𝑡</m:t>
                            </m:r>
                          </m:e>
                          <m:sub>
                            <m:r>
                              <a:rPr lang="en-US" sz="3000" i="1"/>
                              <m:t>0</m:t>
                            </m:r>
                          </m:sub>
                        </m:sSub>
                        <m:r>
                          <a:rPr lang="en-US" sz="3000" i="1"/>
                          <m:t>+</m:t>
                        </m:r>
                        <m:r>
                          <a:rPr lang="en-US" sz="3000" i="1"/>
                          <m:t>𝑇</m:t>
                        </m:r>
                      </m:sup>
                      <m:e>
                        <m:r>
                          <a:rPr lang="en-US" sz="3000" i="1"/>
                          <m:t>𝑓</m:t>
                        </m:r>
                        <m:r>
                          <a:rPr lang="en-US" sz="3000" i="1"/>
                          <m:t>(</m:t>
                        </m:r>
                        <m:r>
                          <a:rPr lang="en-US" sz="3000" i="1"/>
                          <m:t>𝑡</m:t>
                        </m:r>
                        <m:r>
                          <a:rPr lang="en-US" sz="3000" i="1"/>
                          <m:t>)</m:t>
                        </m:r>
                        <m:sSup>
                          <m:sSupPr>
                            <m:ctrlPr>
                              <a:rPr lang="ru-RU" sz="3000" i="1"/>
                            </m:ctrlPr>
                          </m:sSupPr>
                          <m:e>
                            <m:r>
                              <a:rPr lang="en-US" sz="3000" i="1"/>
                              <m:t>𝑒</m:t>
                            </m:r>
                          </m:e>
                          <m:sup>
                            <m:r>
                              <a:rPr lang="en-US" sz="3000" i="1"/>
                              <m:t>−</m:t>
                            </m:r>
                            <m:r>
                              <a:rPr lang="en-US" sz="3000" i="1"/>
                              <m:t>𝑖</m:t>
                            </m:r>
                            <m:sSub>
                              <m:sSubPr>
                                <m:ctrlPr>
                                  <a:rPr lang="ru-RU" sz="3000" i="1"/>
                                </m:ctrlPr>
                              </m:sSubPr>
                              <m:e>
                                <m:r>
                                  <a:rPr lang="en-US" sz="3000" i="1"/>
                                  <m:t>𝜔</m:t>
                                </m:r>
                              </m:e>
                              <m:sub>
                                <m:r>
                                  <a:rPr lang="en-US" sz="3000" i="1"/>
                                  <m:t>𝑛</m:t>
                                </m:r>
                              </m:sub>
                            </m:sSub>
                            <m:r>
                              <a:rPr lang="en-US" sz="3000" i="1"/>
                              <m:t>𝑡</m:t>
                            </m:r>
                          </m:sup>
                        </m:sSup>
                      </m:e>
                    </m:nary>
                    <m:r>
                      <a:rPr lang="en-US" sz="3000" i="1"/>
                      <m:t>𝑑𝑡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ru-RU" sz="3000" i="1" dirty="0"/>
                  <a:t>где, </a:t>
                </a:r>
                <a14:m>
                  <m:oMath xmlns:m="http://schemas.openxmlformats.org/officeDocument/2006/math">
                    <m:r>
                      <a:rPr lang="en-US" sz="3000" i="1"/>
                      <m:t>𝜔</m:t>
                    </m:r>
                    <m:r>
                      <a:rPr lang="en-US" sz="3000" i="1"/>
                      <m:t>=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ru-RU" sz="3000" i="1"/>
                          <m:t>2</m:t>
                        </m:r>
                        <m:r>
                          <a:rPr lang="en-US" sz="3000" i="1"/>
                          <m:t>𝜋</m:t>
                        </m:r>
                        <m:r>
                          <a:rPr lang="en-US" sz="3000" i="1"/>
                          <m:t>𝑛</m:t>
                        </m:r>
                      </m:num>
                      <m:den>
                        <m:r>
                          <a:rPr lang="en-US" sz="3000" i="1"/>
                          <m:t>𝑇</m:t>
                        </m:r>
                      </m:den>
                    </m:f>
                  </m:oMath>
                </a14:m>
                <a:r>
                  <a:rPr lang="en-US" sz="3000" i="1" dirty="0"/>
                  <a:t> , </a:t>
                </a:r>
                <a14:m>
                  <m:oMath xmlns:m="http://schemas.openxmlformats.org/officeDocument/2006/math">
                    <m:r>
                      <a:rPr lang="en-US" sz="3000" i="1"/>
                      <m:t>𝑛</m:t>
                    </m:r>
                    <m:r>
                      <a:rPr lang="en-US" sz="3000" i="1"/>
                      <m:t>∈</m:t>
                    </m:r>
                    <m:r>
                      <a:rPr lang="en-US" sz="3000" i="1"/>
                      <m:t>𝑍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endParaRPr lang="ru-RU" sz="3000" dirty="0"/>
              </a:p>
              <a:p>
                <a:pPr marL="0" indent="0">
                  <a:buNone/>
                </a:pPr>
                <a:endParaRPr lang="ru-RU" sz="30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AF45F7-BBAC-0B81-6E85-C25527D7F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5029" y="1551214"/>
                <a:ext cx="10907485" cy="5029200"/>
              </a:xfrm>
              <a:blipFill>
                <a:blip r:embed="rId2"/>
                <a:stretch>
                  <a:fillRect l="-1285" t="-20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26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A9097B-0AC3-A432-B69D-D086B8EEF0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399" y="277585"/>
                <a:ext cx="10940143" cy="6270171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ru-RU" sz="3000" i="1" dirty="0"/>
                  <a:t>1. </a:t>
                </a:r>
                <a:r>
                  <a:rPr lang="en-US" sz="3000" i="1" dirty="0"/>
                  <a:t>a</a:t>
                </a:r>
                <a:r>
                  <a:rPr lang="en-US" sz="3000" i="1" baseline="-25000" dirty="0"/>
                  <a:t>n</a:t>
                </a:r>
                <a:r>
                  <a:rPr lang="en-US" sz="3000" i="1" dirty="0"/>
                  <a:t>:</a:t>
                </a:r>
                <a:endParaRPr lang="ru-RU" sz="3000" dirty="0"/>
              </a:p>
              <a:p>
                <a:pPr marL="0" indent="0">
                  <a:buNone/>
                </a:pPr>
                <a:r>
                  <a:rPr lang="en-US" sz="3000" i="1" dirty="0"/>
                  <a:t>1) a</a:t>
                </a:r>
                <a:r>
                  <a:rPr lang="en-US" sz="3000" i="1" baseline="-25000" dirty="0"/>
                  <a:t>0</a:t>
                </a:r>
                <a:r>
                  <a:rPr lang="en-US" sz="3000" i="1" dirty="0"/>
                  <a:t>:</a:t>
                </a:r>
                <a:endParaRPr lang="ru-RU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000" i="1"/>
                          </m:ctrlPr>
                        </m:sSubPr>
                        <m:e>
                          <m:r>
                            <a:rPr lang="ru-RU" sz="3000" i="1"/>
                            <m:t>𝑎</m:t>
                          </m:r>
                        </m:e>
                        <m:sub>
                          <m:r>
                            <a:rPr lang="ru-RU" sz="3000" i="1"/>
                            <m:t>0</m:t>
                          </m:r>
                        </m:sub>
                      </m:sSub>
                      <m:r>
                        <a:rPr lang="ru-RU" sz="3000" i="1"/>
                        <m:t>=</m:t>
                      </m:r>
                      <m:f>
                        <m:fPr>
                          <m:ctrlPr>
                            <a:rPr lang="ru-RU" sz="3000" i="1"/>
                          </m:ctrlPr>
                        </m:fPr>
                        <m:num>
                          <m:r>
                            <a:rPr lang="ru-RU" sz="3000" i="1"/>
                            <m:t>2</m:t>
                          </m:r>
                        </m:num>
                        <m:den>
                          <m:r>
                            <a:rPr lang="ru-RU" sz="3000" i="1"/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ru-RU" sz="3000" i="1"/>
                          </m:ctrlPr>
                        </m:naryPr>
                        <m:sub>
                          <m:sSub>
                            <m:sSubPr>
                              <m:ctrlPr>
                                <a:rPr lang="ru-RU" sz="3000" i="1"/>
                              </m:ctrlPr>
                            </m:sSubPr>
                            <m:e>
                              <m:r>
                                <a:rPr lang="ru-RU" sz="3000" i="1"/>
                                <m:t>𝑡</m:t>
                              </m:r>
                            </m:e>
                            <m:sub>
                              <m:r>
                                <a:rPr lang="ru-RU" sz="3000" i="1"/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ru-RU" sz="3000" i="1"/>
                              </m:ctrlPr>
                            </m:sSubPr>
                            <m:e>
                              <m:r>
                                <a:rPr lang="ru-RU" sz="3000" i="1"/>
                                <m:t>𝑡</m:t>
                              </m:r>
                            </m:e>
                            <m:sub>
                              <m:r>
                                <a:rPr lang="ru-RU" sz="3000" i="1"/>
                                <m:t>0</m:t>
                              </m:r>
                            </m:sub>
                          </m:sSub>
                          <m:r>
                            <a:rPr lang="ru-RU" sz="3000" i="1"/>
                            <m:t>+</m:t>
                          </m:r>
                          <m:r>
                            <a:rPr lang="ru-RU" sz="3000" i="1"/>
                            <m:t>𝑇</m:t>
                          </m:r>
                        </m:sup>
                        <m:e>
                          <m:r>
                            <a:rPr lang="ru-RU" sz="3000" i="1"/>
                            <m:t>𝑓</m:t>
                          </m:r>
                          <m:d>
                            <m:dPr>
                              <m:ctrlPr>
                                <a:rPr lang="ru-RU" sz="3000" i="1"/>
                              </m:ctrlPr>
                            </m:dPr>
                            <m:e>
                              <m:r>
                                <a:rPr lang="ru-RU" sz="3000" i="1"/>
                                <m:t>𝑡</m:t>
                              </m:r>
                            </m:e>
                          </m:d>
                          <m:r>
                            <a:rPr lang="ru-RU" sz="3000" i="1"/>
                            <m:t>𝑑𝑡</m:t>
                          </m:r>
                        </m:e>
                      </m:nary>
                      <m:r>
                        <a:rPr lang="en-US" sz="3000" i="1"/>
                        <m:t>=</m:t>
                      </m:r>
                      <m:nary>
                        <m:naryPr>
                          <m:ctrlPr>
                            <a:rPr lang="ru-RU" sz="3000" i="1"/>
                          </m:ctrlPr>
                        </m:naryPr>
                        <m:sub>
                          <m:r>
                            <a:rPr lang="ru-RU" sz="3000" i="1"/>
                            <m:t>0</m:t>
                          </m:r>
                        </m:sub>
                        <m:sup>
                          <m:r>
                            <a:rPr lang="ru-RU" sz="3000" i="1"/>
                            <m:t>1</m:t>
                          </m:r>
                        </m:sup>
                        <m:e>
                          <m:r>
                            <a:rPr lang="ru-RU" sz="3000" i="1"/>
                            <m:t>1 </m:t>
                          </m:r>
                          <m:r>
                            <a:rPr lang="ru-RU" sz="3000" i="1"/>
                            <m:t>𝑑𝑡</m:t>
                          </m:r>
                        </m:e>
                      </m:nary>
                      <m:r>
                        <a:rPr lang="en-US" sz="3000" i="1"/>
                        <m:t>+ </m:t>
                      </m:r>
                      <m:nary>
                        <m:naryPr>
                          <m:ctrlPr>
                            <a:rPr lang="ru-RU" sz="3000" i="1"/>
                          </m:ctrlPr>
                        </m:naryPr>
                        <m:sub>
                          <m:r>
                            <a:rPr lang="ru-RU" sz="3000" i="1"/>
                            <m:t>1</m:t>
                          </m:r>
                        </m:sub>
                        <m:sup>
                          <m:r>
                            <a:rPr lang="ru-RU" sz="3000" i="1"/>
                            <m:t>2</m:t>
                          </m:r>
                        </m:sup>
                        <m:e>
                          <m:r>
                            <a:rPr lang="ru-RU" sz="3000" i="1"/>
                            <m:t>2 </m:t>
                          </m:r>
                          <m:r>
                            <a:rPr lang="ru-RU" sz="3000" i="1"/>
                            <m:t>𝑑𝑡</m:t>
                          </m:r>
                          <m:r>
                            <a:rPr lang="ru-RU" sz="3000" i="1"/>
                            <m:t> </m:t>
                          </m:r>
                        </m:e>
                      </m:nary>
                      <m:r>
                        <a:rPr lang="ru-RU" sz="3000" i="1"/>
                        <m:t>=</m:t>
                      </m:r>
                      <m:r>
                        <a:rPr lang="en-US" sz="3000" i="1"/>
                        <m:t>3</m:t>
                      </m:r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i="1" dirty="0"/>
                  <a:t>2) </a:t>
                </a:r>
                <a:r>
                  <a:rPr lang="ru-RU" sz="3000" i="1" dirty="0"/>
                  <a:t>n ≥ 1</a:t>
                </a:r>
                <a:r>
                  <a:rPr lang="en-US" sz="3000" i="1" dirty="0"/>
                  <a:t>:</a:t>
                </a:r>
                <a:endParaRPr lang="ru-RU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000" i="1"/>
                          </m:ctrlPr>
                        </m:sSubPr>
                        <m:e>
                          <m:r>
                            <a:rPr lang="ru-RU" sz="3000" i="1"/>
                            <m:t>𝑎</m:t>
                          </m:r>
                        </m:e>
                        <m:sub>
                          <m:r>
                            <a:rPr lang="ru-RU" sz="3000" i="1"/>
                            <m:t>𝑛</m:t>
                          </m:r>
                        </m:sub>
                      </m:sSub>
                      <m:r>
                        <a:rPr lang="ru-RU" sz="3000" i="1"/>
                        <m:t>=</m:t>
                      </m:r>
                      <m:nary>
                        <m:naryPr>
                          <m:ctrlPr>
                            <a:rPr lang="ru-RU" sz="3000" i="1"/>
                          </m:ctrlPr>
                        </m:naryPr>
                        <m:sub>
                          <m:r>
                            <a:rPr lang="ru-RU" sz="3000" i="1"/>
                            <m:t>0</m:t>
                          </m:r>
                        </m:sub>
                        <m:sup>
                          <m:r>
                            <a:rPr lang="ru-RU" sz="3000" i="1"/>
                            <m:t>2</m:t>
                          </m:r>
                        </m:sup>
                        <m:e>
                          <m:r>
                            <a:rPr lang="ru-RU" sz="3000" i="1"/>
                            <m:t>𝑓</m:t>
                          </m:r>
                          <m:d>
                            <m:dPr>
                              <m:ctrlPr>
                                <a:rPr lang="ru-RU" sz="3000" i="1"/>
                              </m:ctrlPr>
                            </m:dPr>
                            <m:e>
                              <m:r>
                                <a:rPr lang="ru-RU" sz="3000" i="1"/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ru-RU" sz="30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3000"/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3000" i="1"/>
                                  </m:ctrlPr>
                                </m:dPr>
                                <m:e>
                                  <m:r>
                                    <a:rPr lang="ru-RU" sz="3000" i="1"/>
                                    <m:t>𝑛</m:t>
                                  </m:r>
                                  <m:r>
                                    <a:rPr lang="ru-RU" sz="3000" i="1"/>
                                    <m:t>𝜋</m:t>
                                  </m:r>
                                  <m:r>
                                    <a:rPr lang="ru-RU" sz="3000" i="1"/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ru-RU" sz="3000" i="1"/>
                            <m:t>𝑑𝑡</m:t>
                          </m:r>
                        </m:e>
                      </m:nary>
                      <m:r>
                        <a:rPr lang="ru-RU" sz="3000" i="1"/>
                        <m:t>= </m:t>
                      </m:r>
                      <m:nary>
                        <m:naryPr>
                          <m:ctrlPr>
                            <a:rPr lang="ru-RU" sz="3000" i="1"/>
                          </m:ctrlPr>
                        </m:naryPr>
                        <m:sub>
                          <m:r>
                            <a:rPr lang="ru-RU" sz="3000" i="1"/>
                            <m:t>0</m:t>
                          </m:r>
                        </m:sub>
                        <m:sup>
                          <m:r>
                            <a:rPr lang="ru-RU" sz="3000" i="1"/>
                            <m:t>1</m:t>
                          </m:r>
                        </m:sup>
                        <m:e>
                          <m:r>
                            <a:rPr lang="ru-RU" sz="3000" i="1"/>
                            <m:t>1⋅ </m:t>
                          </m:r>
                          <m:func>
                            <m:funcPr>
                              <m:ctrlPr>
                                <a:rPr lang="ru-RU" sz="30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3000"/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3000" i="1"/>
                                  </m:ctrlPr>
                                </m:dPr>
                                <m:e>
                                  <m:r>
                                    <a:rPr lang="ru-RU" sz="3000" i="1"/>
                                    <m:t>𝑛</m:t>
                                  </m:r>
                                  <m:r>
                                    <a:rPr lang="ru-RU" sz="3000" i="1"/>
                                    <m:t>𝜋</m:t>
                                  </m:r>
                                  <m:r>
                                    <a:rPr lang="ru-RU" sz="3000" i="1"/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ru-RU" sz="3000" i="1"/>
                            <m:t>𝑑𝑡</m:t>
                          </m:r>
                        </m:e>
                      </m:nary>
                      <m:r>
                        <a:rPr lang="en-US" sz="3000" i="1"/>
                        <m:t>+ </m:t>
                      </m:r>
                      <m:nary>
                        <m:naryPr>
                          <m:ctrlPr>
                            <a:rPr lang="ru-RU" sz="3000" i="1"/>
                          </m:ctrlPr>
                        </m:naryPr>
                        <m:sub>
                          <m:r>
                            <a:rPr lang="ru-RU" sz="3000" i="1"/>
                            <m:t>0</m:t>
                          </m:r>
                        </m:sub>
                        <m:sup>
                          <m:r>
                            <a:rPr lang="ru-RU" sz="3000" i="1"/>
                            <m:t>2</m:t>
                          </m:r>
                        </m:sup>
                        <m:e>
                          <m:r>
                            <a:rPr lang="ru-RU" sz="3000" i="1"/>
                            <m:t>2⋅ </m:t>
                          </m:r>
                          <m:func>
                            <m:funcPr>
                              <m:ctrlPr>
                                <a:rPr lang="ru-RU" sz="30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3000"/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3000" i="1"/>
                                  </m:ctrlPr>
                                </m:dPr>
                                <m:e>
                                  <m:r>
                                    <a:rPr lang="ru-RU" sz="3000" i="1"/>
                                    <m:t>𝑛</m:t>
                                  </m:r>
                                  <m:r>
                                    <a:rPr lang="ru-RU" sz="3000" i="1"/>
                                    <m:t>𝜋</m:t>
                                  </m:r>
                                  <m:r>
                                    <a:rPr lang="ru-RU" sz="3000" i="1"/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ru-RU" sz="3000" i="1"/>
                            <m:t>𝑑𝑡</m:t>
                          </m:r>
                        </m:e>
                      </m:nary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endParaRPr lang="ru-RU" sz="3000" dirty="0"/>
              </a:p>
              <a:p>
                <a:pPr marL="0" indent="0">
                  <a:buNone/>
                </a:pPr>
                <a:r>
                  <a:rPr lang="ru-RU" sz="3000" i="1" dirty="0"/>
                  <a:t>Вычислим интеграл:</a:t>
                </a:r>
                <a:r>
                  <a:rPr lang="en-US" sz="3000" i="1" dirty="0"/>
                  <a:t> </a:t>
                </a:r>
                <a:endParaRPr lang="ru-RU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ru-RU" sz="3000" i="1"/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ru-RU" sz="30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000"/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3000" i="1"/>
                                  </m:ctrlPr>
                                </m:dPr>
                                <m:e>
                                  <m:r>
                                    <a:rPr lang="ru-RU" sz="3000" i="1"/>
                                    <m:t>𝑛</m:t>
                                  </m:r>
                                  <m:r>
                                    <a:rPr lang="ru-RU" sz="3000" i="1"/>
                                    <m:t>𝜋</m:t>
                                  </m:r>
                                  <m:r>
                                    <a:rPr lang="ru-RU" sz="3000" i="1"/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ru-RU" sz="3000" i="1"/>
                            <m:t>𝑑𝑡</m:t>
                          </m:r>
                        </m:e>
                      </m:nary>
                      <m:r>
                        <a:rPr lang="en-US" sz="3000" i="1"/>
                        <m:t>=</m:t>
                      </m:r>
                      <m:f>
                        <m:fPr>
                          <m:ctrlPr>
                            <a:rPr lang="ru-RU" sz="3000" i="1"/>
                          </m:ctrlPr>
                        </m:fPr>
                        <m:num>
                          <m:r>
                            <a:rPr lang="en-US" sz="3000" i="1"/>
                            <m:t>1</m:t>
                          </m:r>
                        </m:num>
                        <m:den>
                          <m:r>
                            <a:rPr lang="en-US" sz="3000" i="1"/>
                            <m:t>𝜋</m:t>
                          </m:r>
                          <m:r>
                            <a:rPr lang="en-US" sz="3000" i="1"/>
                            <m:t>𝑛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3000"/>
                        <m:t>sin</m:t>
                      </m:r>
                      <m:r>
                        <a:rPr lang="en-US" sz="3000" i="1"/>
                        <m:t>(</m:t>
                      </m:r>
                      <m:r>
                        <a:rPr lang="en-US" sz="3000" i="1"/>
                        <m:t>𝑛</m:t>
                      </m:r>
                      <m:r>
                        <a:rPr lang="en-US" sz="3000" i="1"/>
                        <m:t>𝜋</m:t>
                      </m:r>
                      <m:r>
                        <a:rPr lang="en-US" sz="3000" i="1"/>
                        <m:t>𝑡</m:t>
                      </m:r>
                      <m:r>
                        <a:rPr lang="en-US" sz="3000" i="1"/>
                        <m:t>)</m:t>
                      </m:r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ru-RU" sz="3000" i="1" dirty="0"/>
                  <a:t>=&gt;</a:t>
                </a:r>
                <a:r>
                  <a:rPr lang="en-US" sz="3000" i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/>
                        </m:ctrlPr>
                      </m:sSubPr>
                      <m:e>
                        <m:r>
                          <a:rPr lang="ru-RU" sz="3000" i="1"/>
                          <m:t>𝑎</m:t>
                        </m:r>
                      </m:e>
                      <m:sub>
                        <m:r>
                          <a:rPr lang="ru-RU" sz="3000" i="1"/>
                          <m:t>𝑛</m:t>
                        </m:r>
                      </m:sub>
                    </m:sSub>
                    <m:r>
                      <a:rPr lang="en-US" sz="3000" i="1"/>
                      <m:t>= 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en-US" sz="3000" i="1"/>
                          <m:t>1</m:t>
                        </m:r>
                      </m:num>
                      <m:den>
                        <m:r>
                          <a:rPr lang="en-US" sz="3000" i="1"/>
                          <m:t>𝜋</m:t>
                        </m:r>
                        <m:r>
                          <a:rPr lang="en-US" sz="3000" i="1"/>
                          <m:t>𝑛</m:t>
                        </m:r>
                      </m:den>
                    </m:f>
                    <m:d>
                      <m:dPr>
                        <m:ctrlPr>
                          <a:rPr lang="ru-RU" sz="30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000"/>
                          <m:t>sin</m:t>
                        </m:r>
                        <m:d>
                          <m:dPr>
                            <m:ctrlPr>
                              <a:rPr lang="ru-RU" sz="3000" i="1"/>
                            </m:ctrlPr>
                          </m:dPr>
                          <m:e>
                            <m:r>
                              <a:rPr lang="en-US" sz="3000" i="1"/>
                              <m:t>𝑛</m:t>
                            </m:r>
                            <m:r>
                              <a:rPr lang="en-US" sz="3000" i="1"/>
                              <m:t>𝜋</m:t>
                            </m:r>
                          </m:e>
                        </m:d>
                        <m:r>
                          <a:rPr lang="en-US" sz="3000" i="1"/>
                          <m:t>−</m:t>
                        </m:r>
                        <m:func>
                          <m:funcPr>
                            <m:ctrlPr>
                              <a:rPr lang="ru-RU" sz="3000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000"/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ru-RU" sz="3000" i="1"/>
                                </m:ctrlPr>
                              </m:dPr>
                              <m:e>
                                <m:r>
                                  <a:rPr lang="en-US" sz="3000" i="1"/>
                                  <m:t>0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3000" i="1"/>
                      <m:t>+2</m:t>
                    </m:r>
                    <m:r>
                      <a:rPr lang="ru-RU" sz="3000" i="1"/>
                      <m:t>⋅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en-US" sz="3000" i="1"/>
                          <m:t>1</m:t>
                        </m:r>
                      </m:num>
                      <m:den>
                        <m:r>
                          <a:rPr lang="en-US" sz="3000" i="1"/>
                          <m:t>𝜋</m:t>
                        </m:r>
                        <m:r>
                          <a:rPr lang="en-US" sz="3000" i="1"/>
                          <m:t>𝑛</m:t>
                        </m:r>
                      </m:den>
                    </m:f>
                    <m:d>
                      <m:dPr>
                        <m:ctrlPr>
                          <a:rPr lang="ru-RU" sz="30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000"/>
                          <m:t>sin</m:t>
                        </m:r>
                        <m:d>
                          <m:dPr>
                            <m:ctrlPr>
                              <a:rPr lang="ru-RU" sz="3000" i="1"/>
                            </m:ctrlPr>
                          </m:dPr>
                          <m:e>
                            <m:r>
                              <a:rPr lang="en-US" sz="3000" i="1"/>
                              <m:t>2</m:t>
                            </m:r>
                            <m:r>
                              <a:rPr lang="en-US" sz="3000" i="1"/>
                              <m:t>𝑛</m:t>
                            </m:r>
                            <m:r>
                              <a:rPr lang="en-US" sz="3000" i="1"/>
                              <m:t>𝜋</m:t>
                            </m:r>
                          </m:e>
                        </m:d>
                        <m:r>
                          <a:rPr lang="en-US" sz="3000" i="1"/>
                          <m:t>−</m:t>
                        </m:r>
                        <m:r>
                          <m:rPr>
                            <m:sty m:val="p"/>
                          </m:rPr>
                          <a:rPr lang="en-US" sz="3000"/>
                          <m:t>sin</m:t>
                        </m:r>
                        <m:d>
                          <m:dPr>
                            <m:ctrlPr>
                              <a:rPr lang="ru-RU" sz="3000" i="1"/>
                            </m:ctrlPr>
                          </m:dPr>
                          <m:e>
                            <m:r>
                              <a:rPr lang="en-US" sz="3000" i="1"/>
                              <m:t>𝜋</m:t>
                            </m:r>
                            <m:r>
                              <a:rPr lang="en-US" sz="3000" i="1"/>
                              <m:t>𝑛</m:t>
                            </m:r>
                          </m:e>
                        </m:d>
                      </m:e>
                    </m:d>
                    <m:r>
                      <a:rPr lang="en-US" sz="3000" i="1"/>
                      <m:t>=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en-US" sz="3000" i="1"/>
                          <m:t>1</m:t>
                        </m:r>
                      </m:num>
                      <m:den>
                        <m:r>
                          <a:rPr lang="en-US" sz="3000" i="1"/>
                          <m:t>𝜋</m:t>
                        </m:r>
                        <m:r>
                          <a:rPr lang="en-US" sz="3000" i="1"/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US" sz="3000"/>
                      <m:t>sin</m:t>
                    </m:r>
                    <m:d>
                      <m:dPr>
                        <m:ctrlPr>
                          <a:rPr lang="ru-RU" sz="3000" i="1"/>
                        </m:ctrlPr>
                      </m:dPr>
                      <m:e>
                        <m:r>
                          <a:rPr lang="en-US" sz="3000" i="1"/>
                          <m:t>𝑛</m:t>
                        </m:r>
                        <m:r>
                          <a:rPr lang="en-US" sz="3000" i="1"/>
                          <m:t>𝜋</m:t>
                        </m:r>
                      </m:e>
                    </m:d>
                    <m:r>
                      <a:rPr lang="en-US" sz="3000" i="1"/>
                      <m:t>+</m:t>
                    </m:r>
                    <m:f>
                      <m:fPr>
                        <m:ctrlPr>
                          <a:rPr lang="ru-RU" sz="3000" i="1"/>
                        </m:ctrlPr>
                      </m:fPr>
                      <m:num>
                        <m:r>
                          <a:rPr lang="en-US" sz="3000" i="1"/>
                          <m:t>2</m:t>
                        </m:r>
                      </m:num>
                      <m:den>
                        <m:r>
                          <a:rPr lang="en-US" sz="3000" i="1"/>
                          <m:t>𝜋</m:t>
                        </m:r>
                        <m:r>
                          <a:rPr lang="en-US" sz="3000" i="1"/>
                          <m:t>𝑛</m:t>
                        </m:r>
                      </m:den>
                    </m:f>
                    <m:r>
                      <a:rPr lang="ru-RU" sz="3000" i="1"/>
                      <m:t>⋅0</m:t>
                    </m:r>
                    <m:r>
                      <a:rPr lang="en-US" sz="3000" i="1"/>
                      <m:t>=0 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i="1" dirty="0"/>
                  <a:t>=&gt; a</a:t>
                </a:r>
                <a:r>
                  <a:rPr lang="en-US" sz="3000" i="1" baseline="-25000" dirty="0"/>
                  <a:t>n </a:t>
                </a:r>
                <a:r>
                  <a:rPr lang="en-US" sz="3000" i="1" dirty="0"/>
                  <a:t>= 0 </a:t>
                </a:r>
                <a:r>
                  <a:rPr lang="ru-RU" sz="3000" i="1" dirty="0"/>
                  <a:t>при n ≥ 1</a:t>
                </a:r>
                <a:endParaRPr lang="ru-RU" sz="30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A9097B-0AC3-A432-B69D-D086B8EEF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399" y="277585"/>
                <a:ext cx="10940143" cy="6270171"/>
              </a:xfrm>
              <a:blipFill>
                <a:blip r:embed="rId2"/>
                <a:stretch>
                  <a:fillRect l="-780" t="-22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910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D6FA031-FE0E-C22E-2E52-D6B16DCBFF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6429" y="146957"/>
                <a:ext cx="11250385" cy="64987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i="1" dirty="0"/>
                  <a:t>2. b</a:t>
                </a:r>
                <a:r>
                  <a:rPr lang="en-US" sz="2400" i="1" baseline="-25000" dirty="0"/>
                  <a:t>n</a:t>
                </a:r>
                <a:r>
                  <a:rPr lang="en-US" sz="2400" i="1" dirty="0"/>
                  <a:t>: 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/>
                          </m:ctrlPr>
                        </m:sSubPr>
                        <m:e>
                          <m:r>
                            <a:rPr lang="ru-RU" sz="2400" i="1"/>
                            <m:t>𝑏</m:t>
                          </m:r>
                        </m:e>
                        <m:sub>
                          <m:r>
                            <a:rPr lang="ru-RU" sz="2400" i="1"/>
                            <m:t>𝑛</m:t>
                          </m:r>
                        </m:sub>
                      </m:sSub>
                      <m:r>
                        <a:rPr lang="ru-RU" sz="2400" i="1"/>
                        <m:t>= </m:t>
                      </m:r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0</m:t>
                          </m:r>
                        </m:sub>
                        <m:sup>
                          <m:r>
                            <a:rPr lang="ru-RU" sz="2400" i="1"/>
                            <m:t>2</m:t>
                          </m:r>
                        </m:sup>
                        <m:e>
                          <m:r>
                            <a:rPr lang="ru-RU" sz="2400" i="1"/>
                            <m:t>𝑓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𝑠𝑖𝑛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= </m:t>
                      </m:r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0</m:t>
                          </m:r>
                        </m:sub>
                        <m:sup>
                          <m:r>
                            <a:rPr lang="ru-RU" sz="2400" i="1"/>
                            <m:t>1</m:t>
                          </m:r>
                        </m:sup>
                        <m:e>
                          <m:r>
                            <a:rPr lang="ru-RU" sz="2400" i="1"/>
                            <m:t>1·</m:t>
                          </m:r>
                          <m:r>
                            <a:rPr lang="ru-RU" sz="2400" i="1"/>
                            <m:t>𝑠𝑖𝑛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+ </m:t>
                      </m:r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1</m:t>
                          </m:r>
                        </m:sub>
                        <m:sup>
                          <m:r>
                            <a:rPr lang="ru-RU" sz="2400" i="1"/>
                            <m:t>2</m:t>
                          </m:r>
                        </m:sup>
                        <m:e>
                          <m:r>
                            <a:rPr lang="ru-RU" sz="2400" i="1"/>
                            <m:t>2·</m:t>
                          </m:r>
                          <m:r>
                            <a:rPr lang="ru-RU" sz="2400" i="1"/>
                            <m:t>𝑠𝑖𝑛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  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Используя: 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ru-RU" sz="2400" i="1"/>
                          </m:ctrlPr>
                        </m:naryPr>
                        <m:sub/>
                        <m:sup/>
                        <m:e>
                          <m:r>
                            <a:rPr lang="ru-RU" sz="2400" i="1"/>
                            <m:t>𝑠𝑖𝑛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= −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r>
                        <a:rPr lang="ru-RU" sz="2400" i="1"/>
                        <m:t>𝑐𝑜𝑠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𝑛</m:t>
                          </m:r>
                          <m:r>
                            <a:rPr lang="ru-RU" sz="2400" i="1"/>
                            <m:t>𝜋</m:t>
                          </m:r>
                          <m:r>
                            <a:rPr lang="ru-RU" sz="2400" i="1"/>
                            <m:t>𝑡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Первая часть суммы: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0</m:t>
                          </m:r>
                        </m:sub>
                        <m:sup>
                          <m:r>
                            <a:rPr lang="ru-RU" sz="2400" i="1"/>
                            <m:t>1</m:t>
                          </m:r>
                        </m:sup>
                        <m:e>
                          <m:r>
                            <a:rPr lang="ru-RU" sz="2400" i="1"/>
                            <m:t>𝑠𝑖𝑛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= −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  <m:r>
                            <a:rPr lang="ru-RU" sz="2400" i="1"/>
                            <m:t>− </m:t>
                          </m:r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0</m:t>
                              </m:r>
                            </m:e>
                          </m:d>
                        </m:e>
                      </m:d>
                      <m:r>
                        <a:rPr lang="ru-RU" sz="2400" i="1"/>
                        <m:t>=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 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1 − </m:t>
                          </m:r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Вторая часть суммы: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/>
                        <m:t>2 </m:t>
                      </m:r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1</m:t>
                          </m:r>
                        </m:sub>
                        <m:sup>
                          <m:r>
                            <a:rPr lang="ru-RU" sz="2400" i="1"/>
                            <m:t>2</m:t>
                          </m:r>
                        </m:sup>
                        <m:e>
                          <m:r>
                            <a:rPr lang="ru-RU" sz="2400" i="1"/>
                            <m:t>𝑠𝑖𝑛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= 2·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−</m:t>
                          </m:r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2</m:t>
                              </m:r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  <m:r>
                            <a:rPr lang="ru-RU" sz="2400" i="1"/>
                            <m:t>− </m:t>
                          </m:r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</m:e>
                      </m:d>
                      <m:r>
                        <a:rPr lang="ru-RU" sz="2400" i="1"/>
                        <m:t>= −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2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1 − </m:t>
                          </m:r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Сумма: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/>
                          </m:ctrlPr>
                        </m:sSubPr>
                        <m:e>
                          <m:r>
                            <a:rPr lang="ru-RU" sz="2400" i="1"/>
                            <m:t>𝑏</m:t>
                          </m:r>
                        </m:e>
                        <m:sub>
                          <m:r>
                            <a:rPr lang="ru-RU" sz="2400" i="1"/>
                            <m:t>𝑛</m:t>
                          </m:r>
                        </m:sub>
                      </m:sSub>
                      <m:r>
                        <a:rPr lang="ru-RU" sz="2400" i="1"/>
                        <m:t>=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1 − </m:t>
                          </m:r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</m:e>
                      </m:d>
                      <m:r>
                        <a:rPr lang="ru-RU" sz="2400" i="1"/>
                        <m:t>−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2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1 − </m:t>
                          </m:r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</m:e>
                      </m:d>
                      <m:r>
                        <a:rPr lang="ru-RU" sz="2400" i="1"/>
                        <m:t> = −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sz="2400" i="1"/>
                          </m:ctrlPr>
                        </m:dPr>
                        <m:e>
                          <m:r>
                            <a:rPr lang="ru-RU" sz="2400" i="1"/>
                            <m:t>1 − </m:t>
                          </m:r>
                          <m:r>
                            <a:rPr lang="ru-RU" sz="2400" i="1"/>
                            <m:t>𝑐𝑜𝑠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𝑛</m:t>
                              </m:r>
                              <m:r>
                                <a:rPr lang="ru-RU" sz="2400" i="1"/>
                                <m:t>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D6FA031-FE0E-C22E-2E52-D6B16DCBFF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6429" y="146957"/>
                <a:ext cx="11250385" cy="6498772"/>
              </a:xfrm>
              <a:blipFill>
                <a:blip r:embed="rId2"/>
                <a:stretch>
                  <a:fillRect l="-867" t="-10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290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89E679D-99E6-70F3-6427-2D4E3E1D55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7400" y="88900"/>
                <a:ext cx="11252200" cy="65659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i="1" dirty="0"/>
                  <a:t>Поскольку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ru-RU" sz="24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400" i="1" dirty="0"/>
                  <a:t> , имеем:</a:t>
                </a:r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 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1 −</m:t>
                    </m:r>
                    <m:func>
                      <m:func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ru-RU" sz="2400" i="1">
                        <a:latin typeface="Cambria Math" panose="02040503050406030204" pitchFamily="18" charset="0"/>
                      </a:rPr>
                      <m:t>= 1 −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чётн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ое</m:t>
                            </m:r>
                          </m:e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2,  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нечё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тное</m:t>
                            </m:r>
                          </m:e>
                        </m:eqArr>
                      </m:e>
                    </m:d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ru-RU" sz="2400" i="1" dirty="0"/>
                  <a:t> 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чётн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ое</m:t>
                              </m:r>
                            </m:e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нечё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тное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89E679D-99E6-70F3-6427-2D4E3E1D55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400" y="88900"/>
                <a:ext cx="11252200" cy="6565900"/>
              </a:xfrm>
              <a:blipFill>
                <a:blip r:embed="rId2"/>
                <a:stretch>
                  <a:fillRect l="-813" t="-10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98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9D8563-AFA7-B9CD-1200-6BA408638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5500" y="139700"/>
                <a:ext cx="10896600" cy="6553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i="1" dirty="0"/>
                  <a:t>3. </a:t>
                </a:r>
                <a:r>
                  <a:rPr lang="en-US" sz="2400" i="1" dirty="0" err="1"/>
                  <a:t>c</a:t>
                </a:r>
                <a:r>
                  <a:rPr lang="en-US" sz="2400" i="1" baseline="-25000" dirty="0" err="1"/>
                  <a:t>n</a:t>
                </a:r>
                <a:r>
                  <a:rPr lang="en-US" sz="2400" i="1" dirty="0"/>
                  <a:t>: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/>
                          </m:ctrlPr>
                        </m:sSubPr>
                        <m:e>
                          <m:r>
                            <a:rPr lang="ru-RU" sz="2400" i="1"/>
                            <m:t>𝑐</m:t>
                          </m:r>
                        </m:e>
                        <m:sub>
                          <m:r>
                            <a:rPr lang="ru-RU" sz="2400" i="1"/>
                            <m:t>𝑛</m:t>
                          </m:r>
                        </m:sub>
                      </m:sSub>
                      <m:r>
                        <a:rPr lang="ru-RU" sz="2400" i="1"/>
                        <m:t>=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𝑇</m:t>
                              </m:r>
                            </m:den>
                          </m:f>
                        </m:e>
                      </m:d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0</m:t>
                          </m:r>
                        </m:sub>
                        <m:sup>
                          <m:r>
                            <a:rPr lang="ru-RU" sz="2400" i="1"/>
                            <m:t>𝑇</m:t>
                          </m:r>
                        </m:sup>
                        <m:e>
                          <m:r>
                            <a:rPr lang="ru-RU" sz="2400" i="1"/>
                            <m:t>𝑓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ru-RU" sz="2400" i="1"/>
                              </m:ctrlPr>
                            </m:sSupPr>
                            <m:e>
                              <m:r>
                                <a:rPr lang="ru-RU" sz="2400" i="1"/>
                                <m:t>𝑒</m:t>
                              </m:r>
                            </m:e>
                            <m:sup>
                              <m:r>
                                <a:rPr lang="ru-RU" sz="2400" i="1"/>
                                <m:t>−</m:t>
                              </m:r>
                              <m:r>
                                <a:rPr lang="ru-RU" sz="2400" i="1"/>
                                <m:t>𝑖𝑛</m:t>
                              </m:r>
                              <m:r>
                                <a:rPr lang="ru-RU" sz="2400" i="1"/>
                                <m:t>𝜔</m:t>
                              </m:r>
                              <m:r>
                                <a:rPr lang="ru-RU" sz="2400" i="1"/>
                                <m:t>𝑡</m:t>
                              </m:r>
                            </m:sup>
                          </m:sSup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=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2</m:t>
                              </m:r>
                            </m:den>
                          </m:f>
                        </m:e>
                      </m:d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0</m:t>
                          </m:r>
                        </m:sub>
                        <m:sup>
                          <m:r>
                            <a:rPr lang="ru-RU" sz="2400" i="1"/>
                            <m:t>2</m:t>
                          </m:r>
                        </m:sup>
                        <m:e>
                          <m:r>
                            <a:rPr lang="ru-RU" sz="2400" i="1"/>
                            <m:t>𝑓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ru-RU" sz="2400" i="1"/>
                              </m:ctrlPr>
                            </m:sSupPr>
                            <m:e>
                              <m:r>
                                <a:rPr lang="ru-RU" sz="2400" i="1"/>
                                <m:t>𝑒</m:t>
                              </m:r>
                            </m:e>
                            <m:sup>
                              <m:r>
                                <a:rPr lang="ru-RU" sz="2400" i="1"/>
                                <m:t>−</m:t>
                              </m:r>
                              <m:r>
                                <a:rPr lang="ru-RU" sz="2400" i="1"/>
                                <m:t>𝑖𝑛</m:t>
                              </m:r>
                              <m:r>
                                <a:rPr lang="ru-RU" sz="2400" i="1"/>
                                <m:t>𝜋</m:t>
                              </m:r>
                              <m:r>
                                <a:rPr lang="ru-RU" sz="2400" i="1"/>
                                <m:t>𝑡</m:t>
                              </m:r>
                            </m:sup>
                          </m:sSup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 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Для </a:t>
                </a:r>
                <a:r>
                  <a:rPr lang="en-US" sz="2400" i="1" dirty="0"/>
                  <a:t>n=0: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/>
                          </m:ctrlPr>
                        </m:sSubPr>
                        <m:e>
                          <m:r>
                            <a:rPr lang="ru-RU" sz="2400" i="1"/>
                            <m:t>𝑐</m:t>
                          </m:r>
                        </m:e>
                        <m:sub>
                          <m:r>
                            <a:rPr lang="ru-RU" sz="2400" i="1"/>
                            <m:t>0</m:t>
                          </m:r>
                        </m:sub>
                      </m:sSub>
                      <m:r>
                        <a:rPr lang="ru-RU" sz="2400" i="1"/>
                        <m:t>=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2</m:t>
                              </m:r>
                            </m:den>
                          </m:f>
                        </m:e>
                      </m:d>
                      <m:nary>
                        <m:naryPr>
                          <m:ctrlPr>
                            <a:rPr lang="ru-RU" sz="2400" i="1"/>
                          </m:ctrlPr>
                        </m:naryPr>
                        <m:sub>
                          <m:r>
                            <a:rPr lang="ru-RU" sz="2400" i="1"/>
                            <m:t>0</m:t>
                          </m:r>
                        </m:sub>
                        <m:sup>
                          <m:r>
                            <a:rPr lang="ru-RU" sz="2400" i="1"/>
                            <m:t>2</m:t>
                          </m:r>
                        </m:sup>
                        <m:e>
                          <m:r>
                            <a:rPr lang="ru-RU" sz="2400" i="1"/>
                            <m:t>𝑓</m:t>
                          </m:r>
                          <m:d>
                            <m:dPr>
                              <m:ctrlPr>
                                <a:rPr lang="ru-RU" sz="2400" i="1"/>
                              </m:ctrlPr>
                            </m:dPr>
                            <m:e>
                              <m:r>
                                <a:rPr lang="ru-RU" sz="2400" i="1"/>
                                <m:t>𝑡</m:t>
                              </m:r>
                            </m:e>
                          </m:d>
                          <m:r>
                            <a:rPr lang="ru-RU" sz="2400" i="1"/>
                            <m:t>𝑑𝑡</m:t>
                          </m:r>
                        </m:e>
                      </m:nary>
                      <m:r>
                        <a:rPr lang="ru-RU" sz="2400" i="1"/>
                        <m:t> = 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r>
                                <a:rPr lang="ru-RU" sz="2400" i="1"/>
                                <m:t>1</m:t>
                              </m:r>
                            </m:num>
                            <m:den>
                              <m:r>
                                <a:rPr lang="ru-RU" sz="2400" i="1"/>
                                <m:t>2</m:t>
                              </m:r>
                            </m:den>
                          </m:f>
                        </m:e>
                      </m:d>
                      <m:r>
                        <a:rPr lang="ru-RU" sz="2400" i="1"/>
                        <m:t>· 3 =</m:t>
                      </m:r>
                      <m:f>
                        <m:fPr>
                          <m:ctrlPr>
                            <a:rPr lang="ru-RU" sz="2400" i="1"/>
                          </m:ctrlPr>
                        </m:fPr>
                        <m:num>
                          <m:r>
                            <a:rPr lang="ru-RU" sz="2400" i="1"/>
                            <m:t>3</m:t>
                          </m:r>
                        </m:num>
                        <m:den>
                          <m:r>
                            <a:rPr lang="ru-RU" sz="2400" i="1"/>
                            <m:t>2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Для n ≠ 0</a:t>
                </a:r>
                <a:r>
                  <a:rPr lang="en-US" sz="2400" i="1" dirty="0"/>
                  <a:t>: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/>
                          </m:ctrlPr>
                        </m:sSubPr>
                        <m:e>
                          <m:r>
                            <a:rPr lang="ru-RU" sz="2400" i="1"/>
                            <m:t>𝑐</m:t>
                          </m:r>
                        </m:e>
                        <m:sub>
                          <m:r>
                            <a:rPr lang="ru-RU" sz="2400" i="1"/>
                            <m:t>𝑛</m:t>
                          </m:r>
                        </m:sub>
                      </m:sSub>
                      <m:r>
                        <a:rPr lang="ru-RU" sz="2400" i="1"/>
                        <m:t>=</m:t>
                      </m:r>
                      <m:f>
                        <m:fPr>
                          <m:ctrlPr>
                            <a:rPr lang="ru-RU" sz="2400" i="1"/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/>
                              </m:ctrlPr>
                            </m:sSubPr>
                            <m:e>
                              <m:r>
                                <a:rPr lang="ru-RU" sz="2400" i="1"/>
                                <m:t>𝑎</m:t>
                              </m:r>
                            </m:e>
                            <m:sub>
                              <m:r>
                                <a:rPr lang="ru-RU" sz="2400" i="1"/>
                                <m:t>𝑛</m:t>
                              </m:r>
                            </m:sub>
                          </m:sSub>
                          <m:r>
                            <a:rPr lang="ru-RU" sz="2400" i="1"/>
                            <m:t>− </m:t>
                          </m:r>
                          <m:r>
                            <a:rPr lang="ru-RU" sz="2400" i="1"/>
                            <m:t>𝑖</m:t>
                          </m:r>
                          <m:sSub>
                            <m:sSubPr>
                              <m:ctrlPr>
                                <a:rPr lang="ru-RU" sz="2400" i="1"/>
                              </m:ctrlPr>
                            </m:sSubPr>
                            <m:e>
                              <m:r>
                                <a:rPr lang="ru-RU" sz="2400" i="1"/>
                                <m:t>𝑏</m:t>
                              </m:r>
                            </m:e>
                            <m:sub>
                              <m:r>
                                <a:rPr lang="ru-RU" sz="2400" i="1"/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ru-RU" sz="2400" i="1"/>
                            <m:t>2</m:t>
                          </m:r>
                        </m:den>
                      </m:f>
                      <m:r>
                        <a:rPr lang="ru-RU" sz="2400" i="1"/>
                        <m:t>; </m:t>
                      </m:r>
                      <m:sSub>
                        <m:sSubPr>
                          <m:ctrlPr>
                            <a:rPr lang="ru-RU" sz="2400" i="1"/>
                          </m:ctrlPr>
                        </m:sSubPr>
                        <m:e>
                          <m:r>
                            <a:rPr lang="ru-RU" sz="2400" i="1"/>
                            <m:t>𝑎</m:t>
                          </m:r>
                        </m:e>
                        <m:sub>
                          <m:r>
                            <a:rPr lang="ru-RU" sz="2400" i="1"/>
                            <m:t>𝑛</m:t>
                          </m:r>
                        </m:sub>
                      </m:sSub>
                      <m:r>
                        <a:rPr lang="ru-RU" sz="2400" i="1"/>
                        <m:t>=0</m:t>
                      </m:r>
                      <m:r>
                        <a:rPr lang="en-US" sz="2400" i="1"/>
                        <m:t>=&gt; </m:t>
                      </m:r>
                      <m:sSub>
                        <m:sSubPr>
                          <m:ctrlPr>
                            <a:rPr lang="ru-RU" sz="2400" i="1"/>
                          </m:ctrlPr>
                        </m:sSubPr>
                        <m:e>
                          <m:r>
                            <a:rPr lang="ru-RU" sz="2400" i="1"/>
                            <m:t>𝑐</m:t>
                          </m:r>
                        </m:e>
                        <m:sub>
                          <m:r>
                            <a:rPr lang="ru-RU" sz="2400" i="1"/>
                            <m:t>𝑛</m:t>
                          </m:r>
                        </m:sub>
                      </m:sSub>
                      <m:r>
                        <a:rPr lang="ru-RU" sz="2400" i="1"/>
                        <m:t>=−</m:t>
                      </m:r>
                      <m:f>
                        <m:fPr>
                          <m:ctrlPr>
                            <a:rPr lang="ru-RU" sz="2400" i="1"/>
                          </m:ctrlPr>
                        </m:fPr>
                        <m:num>
                          <m:r>
                            <a:rPr lang="ru-RU" sz="2400" i="1"/>
                            <m:t>𝑖</m:t>
                          </m:r>
                          <m:sSub>
                            <m:sSubPr>
                              <m:ctrlPr>
                                <a:rPr lang="ru-RU" sz="2400" i="1"/>
                              </m:ctrlPr>
                            </m:sSubPr>
                            <m:e>
                              <m:r>
                                <a:rPr lang="ru-RU" sz="2400" i="1"/>
                                <m:t>𝑏</m:t>
                              </m:r>
                            </m:e>
                            <m:sub>
                              <m:r>
                                <a:rPr lang="ru-RU" sz="2400" i="1"/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ru-RU" sz="2400" i="1"/>
                            <m:t>2</m:t>
                          </m:r>
                        </m:den>
                      </m:f>
                      <m:r>
                        <a:rPr lang="ru-RU" sz="2400" i="1"/>
                        <m:t>  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i="1" dirty="0"/>
                  <a:t>Подставим найденные значения </a:t>
                </a:r>
                <a:r>
                  <a:rPr lang="en-US" sz="2400" i="1" dirty="0"/>
                  <a:t>b</a:t>
                </a:r>
                <a:r>
                  <a:rPr lang="en-US" sz="2400" i="1" baseline="-25000" dirty="0"/>
                  <a:t>n</a:t>
                </a:r>
                <a:r>
                  <a:rPr lang="en-US" sz="2400" i="1" dirty="0"/>
                  <a:t>:</a:t>
                </a:r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/>
                          </m:ctrlPr>
                        </m:sSubPr>
                        <m:e>
                          <m:r>
                            <a:rPr lang="en-US" sz="2400" i="1"/>
                            <m:t>𝑐</m:t>
                          </m:r>
                        </m:e>
                        <m:sub>
                          <m:r>
                            <a:rPr lang="en-US" sz="2400" i="1"/>
                            <m:t>𝑛</m:t>
                          </m:r>
                        </m:sub>
                      </m:sSub>
                      <m:r>
                        <a:rPr lang="en-US" sz="2400" i="1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400" i="1"/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/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ru-RU" sz="2400" i="1"/>
                                  </m:ctrlPr>
                                </m:fPr>
                                <m:num>
                                  <m:r>
                                    <a:rPr lang="en-US" sz="2400" i="1"/>
                                    <m:t>3</m:t>
                                  </m:r>
                                </m:num>
                                <m:den>
                                  <m:r>
                                    <a:rPr lang="en-US" sz="2400" i="1"/>
                                    <m:t>2</m:t>
                                  </m:r>
                                </m:den>
                              </m:f>
                              <m:r>
                                <a:rPr lang="en-US" sz="2400" i="1"/>
                                <m:t>,  </m:t>
                              </m:r>
                              <m:r>
                                <a:rPr lang="en-US" sz="2400" i="1"/>
                                <m:t>𝑛</m:t>
                              </m:r>
                              <m:r>
                                <a:rPr lang="en-US" sz="2400" i="1"/>
                                <m:t>=0</m:t>
                              </m:r>
                            </m:e>
                            <m:e>
                              <m:r>
                                <a:rPr lang="en-US" sz="2400" i="1"/>
                                <m:t>0,  </m:t>
                              </m:r>
                              <m:r>
                                <a:rPr lang="en-US" sz="2400" i="1"/>
                                <m:t>𝑛</m:t>
                              </m:r>
                              <m:r>
                                <a:rPr lang="en-US" sz="2400" i="1"/>
                                <m:t> </m:t>
                              </m:r>
                              <m:r>
                                <a:rPr lang="ru-RU" sz="2400" i="1"/>
                                <m:t>чётное  и </m:t>
                              </m:r>
                              <m:r>
                                <a:rPr lang="en-US" sz="2400" i="1"/>
                                <m:t>𝑛</m:t>
                              </m:r>
                              <m:r>
                                <a:rPr lang="en-US" sz="2400" i="1"/>
                                <m:t>≠0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ru-RU" sz="2400" i="1"/>
                                  </m:ctrlPr>
                                </m:fPr>
                                <m:num>
                                  <m:r>
                                    <a:rPr lang="en-US" sz="2400" i="1"/>
                                    <m:t>𝑖</m:t>
                                  </m:r>
                                </m:num>
                                <m:den>
                                  <m:r>
                                    <a:rPr lang="en-US" sz="2400" i="1"/>
                                    <m:t>𝜋</m:t>
                                  </m:r>
                                  <m:r>
                                    <a:rPr lang="en-US" sz="2400" i="1"/>
                                    <m:t>𝑛</m:t>
                                  </m:r>
                                </m:den>
                              </m:f>
                              <m:r>
                                <a:rPr lang="en-US" sz="2400" i="1"/>
                                <m:t>,  </m:t>
                              </m:r>
                              <m:r>
                                <a:rPr lang="en-US" sz="2400" i="1"/>
                                <m:t>𝑛</m:t>
                              </m:r>
                              <m:r>
                                <a:rPr lang="en-US" sz="2400" i="1"/>
                                <m:t> н</m:t>
                              </m:r>
                              <m:r>
                                <a:rPr lang="ru-RU" sz="2400" i="1"/>
                                <m:t>ечётное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9D8563-AFA7-B9CD-1200-6BA408638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5500" y="139700"/>
                <a:ext cx="10896600" cy="6553200"/>
              </a:xfrm>
              <a:blipFill>
                <a:blip r:embed="rId2"/>
                <a:stretch>
                  <a:fillRect l="-839" t="-10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856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B0FB3-C4F8-344D-51F1-165DE0972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30200"/>
            <a:ext cx="9321800" cy="736600"/>
          </a:xfrm>
        </p:spPr>
        <p:txBody>
          <a:bodyPr>
            <a:normAutofit/>
          </a:bodyPr>
          <a:lstStyle/>
          <a:p>
            <a:r>
              <a:rPr lang="ru-RU" sz="3400" dirty="0"/>
              <a:t>Программный расчёт коэффициентов: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8BE0BF-C1C4-9D15-58D7-A97E15A4D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6600" y="1422400"/>
                <a:ext cx="5359400" cy="1422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1. Квадратная волна: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∈[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∈[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8BE0BF-C1C4-9D15-58D7-A97E15A4D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6600" y="1422400"/>
                <a:ext cx="5359400" cy="1422400"/>
              </a:xfrm>
              <a:blipFill>
                <a:blip r:embed="rId2"/>
                <a:stretch>
                  <a:fillRect l="-1820" t="-47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961A86-AD94-CAC8-CEC2-AB363AE0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2794000"/>
            <a:ext cx="5071951" cy="38227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401F79-9BC4-6718-A3A2-37E02B462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0" y="2794000"/>
            <a:ext cx="4429134" cy="3822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37AB46-C34B-3AB2-1856-B385081E30D7}"/>
                  </a:ext>
                </a:extLst>
              </p:cNvPr>
              <p:cNvSpPr txBox="1"/>
              <p:nvPr/>
            </p:nvSpPr>
            <p:spPr>
              <a:xfrm>
                <a:off x="6375400" y="1384300"/>
                <a:ext cx="59817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2. Чётная периодическая функция: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400" i="1">
                        <a:latin typeface="Cambria Math" panose="020405030504060302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cos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37AB46-C34B-3AB2-1856-B385081E3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0" y="1384300"/>
                <a:ext cx="5981700" cy="830997"/>
              </a:xfrm>
              <a:prstGeom prst="rect">
                <a:avLst/>
              </a:prstGeom>
              <a:blipFill>
                <a:blip r:embed="rId5"/>
                <a:stretch>
                  <a:fillRect l="-1631" t="-5147" b="-16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31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0377D95-C358-0D4A-64CF-5D8E05C04B8E}"/>
              </a:ext>
            </a:extLst>
          </p:cNvPr>
          <p:cNvSpPr txBox="1">
            <a:spLocks/>
          </p:cNvSpPr>
          <p:nvPr/>
        </p:nvSpPr>
        <p:spPr>
          <a:xfrm>
            <a:off x="876300" y="330200"/>
            <a:ext cx="9321800" cy="736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400"/>
              <a:t>Программный расчёт коэффициентов:</a:t>
            </a:r>
            <a:endParaRPr lang="ru-RU" sz="3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0990B97C-B85D-BA59-143B-7FE8374AE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6000" y="1066800"/>
                <a:ext cx="4025900" cy="1727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3.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2400" i="1"/>
                      <m:t>𝑓</m:t>
                    </m:r>
                    <m:d>
                      <m:dPr>
                        <m:ctrlPr>
                          <a:rPr lang="ru-RU" sz="2400" i="1"/>
                        </m:ctrlPr>
                      </m:dPr>
                      <m:e>
                        <m:r>
                          <a:rPr lang="en-US" sz="2400" i="1"/>
                          <m:t>𝑡</m:t>
                        </m:r>
                      </m:e>
                    </m:d>
                    <m:r>
                      <a:rPr lang="ru-RU" sz="2400" i="1"/>
                      <m:t>=</m:t>
                    </m:r>
                    <m:r>
                      <m:rPr>
                        <m:sty m:val="p"/>
                      </m:rPr>
                      <a:rPr lang="en-US" sz="2400"/>
                      <m:t>sin</m:t>
                    </m:r>
                    <m:d>
                      <m:dPr>
                        <m:ctrlPr>
                          <a:rPr lang="ru-RU" sz="2400" i="1"/>
                        </m:ctrlPr>
                      </m:dPr>
                      <m:e>
                        <m:r>
                          <a:rPr lang="en-US" sz="2400" i="1"/>
                          <m:t>𝑡</m:t>
                        </m:r>
                      </m:e>
                    </m:d>
                    <m:r>
                      <a:rPr lang="ru-RU" sz="2400" i="1"/>
                      <m:t>,   </m:t>
                    </m:r>
                    <m:r>
                      <a:rPr lang="ru-RU" sz="2400" i="1"/>
                      <m:t>𝑇</m:t>
                    </m:r>
                    <m:r>
                      <a:rPr lang="ru-RU" sz="2400" i="1"/>
                      <m:t>=2</m:t>
                    </m:r>
                    <m:r>
                      <a:rPr lang="ru-RU" sz="2400" i="1"/>
                      <m:t>𝜋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0990B97C-B85D-BA59-143B-7FE8374AE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6000" y="1066800"/>
                <a:ext cx="4025900" cy="1727200"/>
              </a:xfrm>
              <a:blipFill>
                <a:blip r:embed="rId2"/>
                <a:stretch>
                  <a:fillRect l="-2424" t="-3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42BFC8-4DFE-08A2-1B04-A5106DD94856}"/>
                  </a:ext>
                </a:extLst>
              </p:cNvPr>
              <p:cNvSpPr txBox="1"/>
              <p:nvPr/>
            </p:nvSpPr>
            <p:spPr>
              <a:xfrm>
                <a:off x="6311900" y="1066800"/>
                <a:ext cx="4699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4. Ни чётная, ни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sin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+0,5</m:t>
                    </m:r>
                    <m:r>
                      <m:rPr>
                        <m:sty m:val="p"/>
                      </m:rPr>
                      <a:rPr lang="en-US" sz="24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𝑡</a:t>
                </a:r>
                <a:r>
                  <a:rPr lang="en-US" sz="2400" i="1" kern="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ru-RU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ru-RU" sz="2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ru-RU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42BFC8-4DFE-08A2-1B04-A5106DD94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900" y="1066800"/>
                <a:ext cx="4699000" cy="1200329"/>
              </a:xfrm>
              <a:prstGeom prst="rect">
                <a:avLst/>
              </a:prstGeom>
              <a:blipFill>
                <a:blip r:embed="rId3"/>
                <a:stretch>
                  <a:fillRect l="-1946" t="-4061" b="-10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9EB2DF-279C-7C77-61E4-40B198AAF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2524125"/>
            <a:ext cx="4648200" cy="407150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E3FC2B-DE57-0828-C10B-6E0F4ABD2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899" y="2524124"/>
            <a:ext cx="4648199" cy="407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66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F7F7248-F839-EBA2-9846-DE3CE79DD4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82650" y="22112"/>
                <a:ext cx="6584950" cy="828788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sz="2700" dirty="0"/>
                  <a:t>1. Квадратная волна: </a:t>
                </a:r>
                <a14:m>
                  <m:oMath xmlns:m="http://schemas.openxmlformats.org/officeDocument/2006/math">
                    <m:r>
                      <a:rPr lang="en-US" sz="2700" i="1"/>
                      <m:t>𝑓</m:t>
                    </m:r>
                    <m:d>
                      <m:dPr>
                        <m:ctrlPr>
                          <a:rPr lang="ru-RU" sz="2700" i="1"/>
                        </m:ctrlPr>
                      </m:dPr>
                      <m:e>
                        <m:r>
                          <a:rPr lang="en-US" sz="2700" i="1"/>
                          <m:t>𝑡</m:t>
                        </m:r>
                      </m:e>
                    </m:d>
                    <m:r>
                      <a:rPr lang="ru-RU" sz="2700" i="1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sz="2700" i="1"/>
                        </m:ctrlPr>
                      </m:dPr>
                      <m:e>
                        <m:eqArr>
                          <m:eqArrPr>
                            <m:ctrlPr>
                              <a:rPr lang="ru-RU" sz="2700" i="1"/>
                            </m:ctrlPr>
                          </m:eqArrPr>
                          <m:e>
                            <m:r>
                              <a:rPr lang="en-US" sz="2700" i="1"/>
                              <m:t>𝑎</m:t>
                            </m:r>
                            <m:r>
                              <a:rPr lang="ru-RU" sz="2700" i="1"/>
                              <m:t>, </m:t>
                            </m:r>
                            <m:r>
                              <a:rPr lang="en-US" sz="2700" i="1"/>
                              <m:t>𝑡</m:t>
                            </m:r>
                            <m:r>
                              <a:rPr lang="ru-RU" sz="2700" i="1"/>
                              <m:t>∈[</m:t>
                            </m:r>
                            <m:sSub>
                              <m:sSubPr>
                                <m:ctrlPr>
                                  <a:rPr lang="ru-RU" sz="2700" i="1"/>
                                </m:ctrlPr>
                              </m:sSubPr>
                              <m:e>
                                <m:r>
                                  <a:rPr lang="en-US" sz="2700" i="1"/>
                                  <m:t>𝑡</m:t>
                                </m:r>
                              </m:e>
                              <m:sub>
                                <m:r>
                                  <a:rPr lang="ru-RU" sz="2700" i="1"/>
                                  <m:t>0</m:t>
                                </m:r>
                              </m:sub>
                            </m:sSub>
                            <m:r>
                              <a:rPr lang="ru-RU" sz="2700" i="1"/>
                              <m:t>, </m:t>
                            </m:r>
                            <m:sSub>
                              <m:sSubPr>
                                <m:ctrlPr>
                                  <a:rPr lang="ru-RU" sz="2700" i="1"/>
                                </m:ctrlPr>
                              </m:sSubPr>
                              <m:e>
                                <m:r>
                                  <a:rPr lang="en-US" sz="2700" i="1"/>
                                  <m:t>𝑡</m:t>
                                </m:r>
                              </m:e>
                              <m:sub>
                                <m:r>
                                  <a:rPr lang="ru-RU" sz="2700" i="1"/>
                                  <m:t>1</m:t>
                                </m:r>
                              </m:sub>
                            </m:sSub>
                            <m:r>
                              <a:rPr lang="ru-RU" sz="2700" i="1"/>
                              <m:t>)</m:t>
                            </m:r>
                          </m:e>
                          <m:e>
                            <m:r>
                              <a:rPr lang="en-US" sz="2700" i="1"/>
                              <m:t>𝑏</m:t>
                            </m:r>
                            <m:r>
                              <a:rPr lang="ru-RU" sz="2700" i="1"/>
                              <m:t>, </m:t>
                            </m:r>
                            <m:r>
                              <a:rPr lang="en-US" sz="2700" i="1"/>
                              <m:t>𝑡</m:t>
                            </m:r>
                            <m:r>
                              <a:rPr lang="ru-RU" sz="2700" i="1"/>
                              <m:t>∈[</m:t>
                            </m:r>
                            <m:sSub>
                              <m:sSubPr>
                                <m:ctrlPr>
                                  <a:rPr lang="ru-RU" sz="2700" i="1"/>
                                </m:ctrlPr>
                              </m:sSubPr>
                              <m:e>
                                <m:r>
                                  <a:rPr lang="en-US" sz="2700" i="1"/>
                                  <m:t>𝑡</m:t>
                                </m:r>
                              </m:e>
                              <m:sub>
                                <m:r>
                                  <a:rPr lang="ru-RU" sz="2700" i="1"/>
                                  <m:t>1</m:t>
                                </m:r>
                              </m:sub>
                            </m:sSub>
                            <m:r>
                              <a:rPr lang="ru-RU" sz="2700" i="1"/>
                              <m:t>, </m:t>
                            </m:r>
                            <m:sSub>
                              <m:sSubPr>
                                <m:ctrlPr>
                                  <a:rPr lang="ru-RU" sz="2700" i="1"/>
                                </m:ctrlPr>
                              </m:sSubPr>
                              <m:e>
                                <m:r>
                                  <a:rPr lang="en-US" sz="2700" i="1"/>
                                  <m:t>𝑡</m:t>
                                </m:r>
                              </m:e>
                              <m:sub>
                                <m:r>
                                  <a:rPr lang="ru-RU" sz="2700" i="1"/>
                                  <m:t>2</m:t>
                                </m:r>
                              </m:sub>
                            </m:sSub>
                            <m:r>
                              <a:rPr lang="ru-RU" sz="2700" i="1"/>
                              <m:t>)</m:t>
                            </m:r>
                          </m:e>
                        </m:eqArr>
                      </m:e>
                    </m:d>
                  </m:oMath>
                </a14:m>
                <a:br>
                  <a:rPr lang="ru-RU" dirty="0"/>
                </a:br>
                <a:endParaRPr lang="ru-RU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F7F7248-F839-EBA2-9846-DE3CE79DD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82650" y="22112"/>
                <a:ext cx="6584950" cy="828788"/>
              </a:xfrm>
              <a:blipFill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Объект 6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E35C25-9960-49FD-4887-11D3CA639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650" y="850900"/>
            <a:ext cx="5274545" cy="2848089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D6E4B0-A85E-5FAD-F56B-A09769889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850900"/>
            <a:ext cx="5219700" cy="281801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31D363-762A-9A2F-E0CF-1EDB5897F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09" y="3946867"/>
            <a:ext cx="5331391" cy="2587511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DA773E-DA97-15FB-49BF-5B06E76EE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0" y="3946867"/>
            <a:ext cx="5273181" cy="25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09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58AB2C-BA1A-CF37-9BFD-5BD6F672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36" y="883148"/>
            <a:ext cx="10477863" cy="509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33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8FE1E8F-D214-285D-19E4-06C1D76B7C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1599" y="685799"/>
                <a:ext cx="8455795" cy="796491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sz="2700" dirty="0"/>
                  <a:t>2. Чётная периодическая функция: </a:t>
                </a:r>
                <a14:m>
                  <m:oMath xmlns:m="http://schemas.openxmlformats.org/officeDocument/2006/math">
                    <m:r>
                      <a:rPr lang="en-US" sz="2700" i="1"/>
                      <m:t>𝑓</m:t>
                    </m:r>
                    <m:d>
                      <m:dPr>
                        <m:ctrlPr>
                          <a:rPr lang="ru-RU" sz="2700" i="1"/>
                        </m:ctrlPr>
                      </m:dPr>
                      <m:e>
                        <m:r>
                          <a:rPr lang="en-US" sz="2700" i="1"/>
                          <m:t>𝑡</m:t>
                        </m:r>
                      </m:e>
                    </m:d>
                    <m:r>
                      <a:rPr lang="ru-RU" sz="2700" i="1"/>
                      <m:t>=|</m:t>
                    </m:r>
                    <m:r>
                      <m:rPr>
                        <m:sty m:val="p"/>
                      </m:rPr>
                      <a:rPr lang="en-US" sz="2700"/>
                      <m:t>cos</m:t>
                    </m:r>
                    <m:r>
                      <a:rPr lang="ru-RU" sz="2700" i="1"/>
                      <m:t>(</m:t>
                    </m:r>
                    <m:r>
                      <a:rPr lang="en-US" sz="2700" i="1"/>
                      <m:t>𝑡</m:t>
                    </m:r>
                    <m:r>
                      <a:rPr lang="ru-RU" sz="2700" i="1"/>
                      <m:t>)|</m:t>
                    </m:r>
                  </m:oMath>
                </a14:m>
                <a:r>
                  <a:rPr lang="ru-RU" sz="2700" dirty="0"/>
                  <a:t>, </a:t>
                </a:r>
                <a14:m>
                  <m:oMath xmlns:m="http://schemas.openxmlformats.org/officeDocument/2006/math">
                    <m:r>
                      <a:rPr lang="ru-RU" sz="2700" i="1"/>
                      <m:t>𝑇</m:t>
                    </m:r>
                    <m:r>
                      <a:rPr lang="ru-RU" sz="2700" i="1"/>
                      <m:t>=</m:t>
                    </m:r>
                    <m:r>
                      <a:rPr lang="ru-RU" sz="2700" i="1"/>
                      <m:t>𝜋</m:t>
                    </m:r>
                  </m:oMath>
                </a14:m>
                <a:br>
                  <a:rPr lang="ru-RU" dirty="0"/>
                </a:br>
                <a:endParaRPr lang="ru-RU" sz="2400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8FE1E8F-D214-285D-19E4-06C1D76B7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1599" y="685799"/>
                <a:ext cx="8455795" cy="796491"/>
              </a:xfrm>
              <a:blipFill>
                <a:blip r:embed="rId2"/>
                <a:stretch>
                  <a:fillRect l="-1081" t="-99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 descr="Изображение выглядит как линия, График, диаграмм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A9192A-37BC-C893-AFB6-CAA8722D4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41" y="1084044"/>
            <a:ext cx="5505638" cy="2735323"/>
          </a:xfrm>
          <a:prstGeom prst="rect">
            <a:avLst/>
          </a:prstGeom>
        </p:spPr>
      </p:pic>
      <p:pic>
        <p:nvPicPr>
          <p:cNvPr id="5" name="Рисунок 4" descr="Изображение выглядит как График, линия, диаграмм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AF1A8F-939A-6B7E-226E-EC94F02CA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440" y="1084043"/>
            <a:ext cx="5505638" cy="2695159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CEC209-E0CE-8C5F-0589-093B52854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57" y="3946289"/>
            <a:ext cx="5606253" cy="2746878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DCCA4C-2345-B04E-8EF3-7A409485D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994" y="3946289"/>
            <a:ext cx="5506084" cy="267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График, линия, диаграмм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649101-F275-EB04-9D36-F91FDD4D1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20" y="376404"/>
            <a:ext cx="9812271" cy="482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40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99C56CF7-78A0-8DAE-C280-D235D61431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1600" y="685800"/>
                <a:ext cx="9081436" cy="594360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sz="2700" dirty="0"/>
                  <a:t>3.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2700" i="1"/>
                      <m:t>𝑓</m:t>
                    </m:r>
                    <m:d>
                      <m:dPr>
                        <m:ctrlPr>
                          <a:rPr lang="ru-RU" sz="2700" i="1"/>
                        </m:ctrlPr>
                      </m:dPr>
                      <m:e>
                        <m:r>
                          <a:rPr lang="en-US" sz="2700" i="1"/>
                          <m:t>𝑡</m:t>
                        </m:r>
                      </m:e>
                    </m:d>
                    <m:r>
                      <a:rPr lang="ru-RU" sz="2700" i="1"/>
                      <m:t>=</m:t>
                    </m:r>
                    <m:r>
                      <m:rPr>
                        <m:sty m:val="p"/>
                      </m:rPr>
                      <a:rPr lang="en-US" sz="2700"/>
                      <m:t>sin</m:t>
                    </m:r>
                    <m:d>
                      <m:dPr>
                        <m:ctrlPr>
                          <a:rPr lang="ru-RU" sz="2700" i="1"/>
                        </m:ctrlPr>
                      </m:dPr>
                      <m:e>
                        <m:r>
                          <a:rPr lang="en-US" sz="2700" i="1"/>
                          <m:t>𝑡</m:t>
                        </m:r>
                      </m:e>
                    </m:d>
                    <m:r>
                      <a:rPr lang="ru-RU" sz="2700" i="1"/>
                      <m:t>,   </m:t>
                    </m:r>
                    <m:r>
                      <a:rPr lang="ru-RU" sz="2700" i="1"/>
                      <m:t>𝑇</m:t>
                    </m:r>
                    <m:r>
                      <a:rPr lang="ru-RU" sz="2700" i="1"/>
                      <m:t>=2</m:t>
                    </m:r>
                    <m:r>
                      <a:rPr lang="ru-RU" sz="2700" i="1"/>
                      <m:t>𝜋</m:t>
                    </m:r>
                  </m:oMath>
                </a14:m>
                <a:br>
                  <a:rPr lang="ru-RU" dirty="0"/>
                </a:br>
                <a:endParaRPr lang="ru-RU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99C56CF7-78A0-8DAE-C280-D235D6143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1600" y="685800"/>
                <a:ext cx="9081436" cy="594360"/>
              </a:xfrm>
              <a:blipFill>
                <a:blip r:embed="rId2"/>
                <a:stretch>
                  <a:fillRect l="-1007" t="-144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F5965E-8D05-6BF6-53CD-774A45CA0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13" y="1100781"/>
            <a:ext cx="5464005" cy="2643446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AAAA57-D5E0-F748-5332-75236B411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086" y="1119003"/>
            <a:ext cx="5464005" cy="264344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A3B4C4-546A-7871-31E6-3CDC8F408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13" y="3888189"/>
            <a:ext cx="5464005" cy="256754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5B3085-4F14-646F-65BF-376302704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086" y="3888189"/>
            <a:ext cx="5464005" cy="258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06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62FB8E-CD32-4A8C-6B2C-F7AF21CF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84" y="746033"/>
            <a:ext cx="11036059" cy="536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84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1D64C0D2-E650-DA61-B490-424AAC2543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79993" y="120313"/>
                <a:ext cx="8263288" cy="709863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sz="2700" dirty="0"/>
                  <a:t>4. Ни чётная, ни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2700" i="1"/>
                      <m:t>𝑓</m:t>
                    </m:r>
                    <m:d>
                      <m:dPr>
                        <m:ctrlPr>
                          <a:rPr lang="ru-RU" sz="2700" i="1"/>
                        </m:ctrlPr>
                      </m:dPr>
                      <m:e>
                        <m:r>
                          <a:rPr lang="en-US" sz="2700" i="1"/>
                          <m:t>𝑡</m:t>
                        </m:r>
                      </m:e>
                    </m:d>
                    <m:r>
                      <a:rPr lang="ru-RU" sz="2700" i="1"/>
                      <m:t>=</m:t>
                    </m:r>
                    <m:r>
                      <m:rPr>
                        <m:sty m:val="p"/>
                      </m:rPr>
                      <a:rPr lang="en-US" sz="2700"/>
                      <m:t>sin</m:t>
                    </m:r>
                    <m:d>
                      <m:dPr>
                        <m:ctrlPr>
                          <a:rPr lang="ru-RU" sz="2700" i="1"/>
                        </m:ctrlPr>
                      </m:dPr>
                      <m:e>
                        <m:r>
                          <a:rPr lang="en-US" sz="2700" i="1"/>
                          <m:t>𝑡</m:t>
                        </m:r>
                      </m:e>
                    </m:d>
                    <m:r>
                      <a:rPr lang="ru-RU" sz="2700" i="1"/>
                      <m:t>+0,5</m:t>
                    </m:r>
                    <m:r>
                      <m:rPr>
                        <m:sty m:val="p"/>
                      </m:rPr>
                      <a:rPr lang="en-US" sz="2700"/>
                      <m:t>cos</m:t>
                    </m:r>
                    <m:r>
                      <a:rPr lang="en-US" sz="2700" i="1"/>
                      <m:t>,</m:t>
                    </m:r>
                    <m:r>
                      <a:rPr lang="ru-RU" sz="2700" i="1"/>
                      <m:t>(</m:t>
                    </m:r>
                  </m:oMath>
                </a14:m>
                <a:r>
                  <a:rPr lang="ru-RU" sz="2700" dirty="0"/>
                  <a:t>2</a:t>
                </a:r>
                <a:r>
                  <a:rPr lang="en-US" sz="2700" dirty="0"/>
                  <a:t>𝑡</a:t>
                </a:r>
                <a:r>
                  <a:rPr lang="en-US" sz="2700" i="1" dirty="0"/>
                  <a:t>.</a:t>
                </a:r>
                <a:r>
                  <a:rPr lang="ru-RU" sz="2700" dirty="0"/>
                  <a:t>), </a:t>
                </a:r>
                <a14:m>
                  <m:oMath xmlns:m="http://schemas.openxmlformats.org/officeDocument/2006/math">
                    <m:r>
                      <a:rPr lang="ru-RU" sz="2700" i="1"/>
                      <m:t>𝑇</m:t>
                    </m:r>
                    <m:r>
                      <a:rPr lang="ru-RU" sz="2700" i="1"/>
                      <m:t>=2</m:t>
                    </m:r>
                    <m:r>
                      <a:rPr lang="ru-RU" sz="2700" i="1"/>
                      <m:t>𝜋</m:t>
                    </m:r>
                  </m:oMath>
                </a14:m>
                <a:r>
                  <a:rPr lang="ru-RU" sz="2700" dirty="0"/>
                  <a:t> 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1D64C0D2-E650-DA61-B490-424AAC254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79993" y="120313"/>
                <a:ext cx="8263288" cy="709863"/>
              </a:xfrm>
              <a:blipFill>
                <a:blip r:embed="rId2"/>
                <a:stretch>
                  <a:fillRect l="-1106" t="-12069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7FF79F-18B2-5152-C174-82CBB1F5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81" y="870543"/>
            <a:ext cx="5653713" cy="2791326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0BC968-03C9-F3BA-A527-745F2CDE3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287" y="918235"/>
            <a:ext cx="5653713" cy="279132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4F5779-93FE-A75F-8F4E-EE3E818AD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80" y="3787090"/>
            <a:ext cx="5725311" cy="279132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642708-DB59-2BE6-0727-8C4F37683A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30" y="3797620"/>
            <a:ext cx="5405006" cy="270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96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E93287-1506-8CF7-CE87-EA9953847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12" y="250257"/>
            <a:ext cx="11130742" cy="538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7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D4EB4-286A-8B96-F4C0-8810E9EF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79922"/>
            <a:ext cx="9601200" cy="1485900"/>
          </a:xfrm>
        </p:spPr>
        <p:txBody>
          <a:bodyPr/>
          <a:lstStyle/>
          <a:p>
            <a:r>
              <a:rPr lang="ru-RU" dirty="0"/>
              <a:t>Анализ графиков: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ED5F73-0EB6-FD09-E40B-CB4624EA7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1638299"/>
                <a:ext cx="10380044" cy="4098357"/>
              </a:xfrm>
            </p:spPr>
            <p:txBody>
              <a:bodyPr/>
              <a:lstStyle/>
              <a:p>
                <a:r>
                  <a:rPr lang="ru-RU" dirty="0"/>
                  <a:t>При малых </a:t>
                </a:r>
                <a:r>
                  <a:rPr lang="en-US" dirty="0"/>
                  <a:t>N</a:t>
                </a:r>
                <a:r>
                  <a:rPr lang="ru-RU" dirty="0"/>
                  <a:t> (1-2): Частичные суммы </a:t>
                </a:r>
                <a:r>
                  <a:rPr lang="en-US" dirty="0"/>
                  <a:t>F</a:t>
                </a:r>
                <a:r>
                  <a:rPr lang="en-US" baseline="-25000" dirty="0"/>
                  <a:t>N</a:t>
                </a:r>
                <a:r>
                  <a:rPr lang="ru-RU" dirty="0"/>
                  <a:t>(</a:t>
                </a:r>
                <a:r>
                  <a:rPr lang="en-US" dirty="0"/>
                  <a:t>t</a:t>
                </a:r>
                <a:r>
                  <a:rPr lang="ru-RU" dirty="0"/>
                  <a:t>) и </a:t>
                </a:r>
                <a:r>
                  <a:rPr lang="en-US" dirty="0"/>
                  <a:t>G</a:t>
                </a:r>
                <a:r>
                  <a:rPr lang="en-US" baseline="-25000" dirty="0"/>
                  <a:t>N</a:t>
                </a:r>
                <a:r>
                  <a:rPr lang="ru-RU" dirty="0"/>
                  <a:t>(</a:t>
                </a:r>
                <a:r>
                  <a:rPr lang="en-US" dirty="0"/>
                  <a:t>t</a:t>
                </a:r>
                <a:r>
                  <a:rPr lang="ru-RU" dirty="0"/>
                  <a:t>) сильно отличаются от исходной функции. </a:t>
                </a:r>
              </a:p>
              <a:p>
                <a:r>
                  <a:rPr lang="ru-RU" dirty="0"/>
                  <a:t>При увеличении </a:t>
                </a:r>
                <a:r>
                  <a:rPr lang="en-US" dirty="0"/>
                  <a:t>N</a:t>
                </a:r>
                <a:r>
                  <a:rPr lang="ru-RU" dirty="0"/>
                  <a:t> (5-10): Форма частичных сумм становится ближе к исходной функции</a:t>
                </a:r>
              </a:p>
              <a:p>
                <a:r>
                  <a:rPr lang="ru-RU" dirty="0"/>
                  <a:t>При больших </a:t>
                </a:r>
                <a:r>
                  <a:rPr lang="en-US" dirty="0"/>
                  <a:t>N </a:t>
                </a:r>
                <a:r>
                  <a:rPr lang="ru-RU" dirty="0"/>
                  <a:t>(20+): Разница между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/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/>
                          <m:t>N</m:t>
                        </m:r>
                      </m:sub>
                    </m:sSub>
                    <m:r>
                      <a:rPr lang="ru-RU"/>
                      <m:t>(</m:t>
                    </m:r>
                    <m:r>
                      <m:rPr>
                        <m:sty m:val="p"/>
                      </m:rPr>
                      <a:rPr lang="ru-RU"/>
                      <m:t>t</m:t>
                    </m:r>
                    <m:r>
                      <a:rPr lang="ru-RU"/>
                      <m:t>)</m:t>
                    </m:r>
                  </m:oMath>
                </a14:m>
                <a:r>
                  <a:rPr lang="ru-RU" dirty="0"/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/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/>
                          <m:t>N</m:t>
                        </m:r>
                      </m:sub>
                    </m:sSub>
                    <m:r>
                      <a:rPr lang="ru-RU"/>
                      <m:t>(</m:t>
                    </m:r>
                    <m:r>
                      <m:rPr>
                        <m:sty m:val="p"/>
                      </m:rPr>
                      <a:rPr lang="ru-RU"/>
                      <m:t>t</m:t>
                    </m:r>
                    <m:r>
                      <a:rPr lang="ru-RU"/>
                      <m:t>)</m:t>
                    </m:r>
                  </m:oMath>
                </a14:m>
                <a:r>
                  <a:rPr lang="ru-RU" dirty="0"/>
                  <a:t> и исходной функцией становится практически незаметной</a:t>
                </a:r>
              </a:p>
              <a:p>
                <a:r>
                  <a:rPr lang="ru-RU" dirty="0"/>
                  <a:t>Для всех </a:t>
                </a:r>
                <a:r>
                  <a:rPr lang="en-US" dirty="0"/>
                  <a:t>N</a:t>
                </a:r>
                <a:r>
                  <a:rPr lang="ru-RU" dirty="0"/>
                  <a:t>: График </a:t>
                </a:r>
                <a:r>
                  <a:rPr lang="en-US" dirty="0"/>
                  <a:t>F</a:t>
                </a:r>
                <a:r>
                  <a:rPr lang="en-US" baseline="-25000" dirty="0"/>
                  <a:t>N</a:t>
                </a:r>
                <a:r>
                  <a:rPr lang="ru-RU" dirty="0"/>
                  <a:t>(</a:t>
                </a:r>
                <a:r>
                  <a:rPr lang="en-US" dirty="0"/>
                  <a:t>t</a:t>
                </a:r>
                <a:r>
                  <a:rPr lang="ru-RU" dirty="0"/>
                  <a:t>) и </a:t>
                </a:r>
                <a:r>
                  <a:rPr lang="en-US" dirty="0"/>
                  <a:t>G</a:t>
                </a:r>
                <a:r>
                  <a:rPr lang="en-US" baseline="-25000" dirty="0"/>
                  <a:t>N</a:t>
                </a:r>
                <a:r>
                  <a:rPr lang="ru-RU" dirty="0"/>
                  <a:t>(</a:t>
                </a:r>
                <a:r>
                  <a:rPr lang="en-US" dirty="0"/>
                  <a:t>t</a:t>
                </a:r>
                <a:r>
                  <a:rPr lang="ru-RU" dirty="0"/>
                  <a:t>) практически совпадают (различия на уровне погрешности вычислений), значит вещественная и комплексная формы ряда Фурье эквивалентны.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ED5F73-0EB6-FD09-E40B-CB4624EA7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1638299"/>
                <a:ext cx="10380044" cy="4098357"/>
              </a:xfrm>
              <a:blipFill>
                <a:blip r:embed="rId2"/>
                <a:stretch>
                  <a:fillRect l="-529" t="-13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735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6CDD1-1A51-F17E-202D-C40261F5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221" y="247650"/>
            <a:ext cx="9601200" cy="7429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равенства Парсеваля: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F8916C-DE8E-8397-277D-1B6D3821E4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5524" y="904775"/>
                <a:ext cx="11184556" cy="57751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Для комплексного ряда Фурье функции f(t) с периодом T выполняется теорема Парсеваля: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r>
                            <a:rPr lang="en-US" i="1"/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ru-RU" i="1"/>
                          </m:ctrlPr>
                        </m:naryPr>
                        <m:sub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  <m:sub>
                              <m:r>
                                <a:rPr lang="en-US" i="1"/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  <m:sub>
                              <m:r>
                                <a:rPr lang="en-US" i="1"/>
                                <m:t>0</m:t>
                              </m:r>
                            </m:sub>
                          </m:sSub>
                          <m:r>
                            <a:rPr lang="en-US" i="1"/>
                            <m:t>+</m:t>
                          </m:r>
                          <m:r>
                            <a:rPr lang="en-US" i="1"/>
                            <m:t>𝑇</m:t>
                          </m:r>
                        </m:sup>
                        <m:e>
                          <m:r>
                            <a:rPr lang="en-US" i="1"/>
                            <m:t>|</m:t>
                          </m:r>
                          <m:r>
                            <a:rPr lang="en-US" i="1"/>
                            <m:t>𝑓</m:t>
                          </m:r>
                          <m:d>
                            <m:dPr>
                              <m:ctrlPr>
                                <a:rPr lang="ru-RU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a:rPr lang="en-US" i="1"/>
                            <m:t>|</m:t>
                          </m:r>
                        </m:e>
                      </m:nary>
                      <m:r>
                        <a:rPr lang="en-US" i="1"/>
                        <m:t>𝑑𝑡</m:t>
                      </m:r>
                      <m:r>
                        <a:rPr lang="en-US" i="1"/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/>
                          </m:ctrlPr>
                        </m:naryPr>
                        <m:sub>
                          <m:r>
                            <a:rPr lang="en-US" i="1"/>
                            <m:t>𝑛</m:t>
                          </m:r>
                          <m:r>
                            <a:rPr lang="en-US" i="1"/>
                            <m:t>=−∞</m:t>
                          </m:r>
                        </m:sub>
                        <m:sup>
                          <m:r>
                            <a:rPr lang="en-US" i="1"/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r>
                                <a:rPr lang="en-US" i="1"/>
                                <m:t>|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𝑐</m:t>
                                  </m:r>
                                </m:e>
                                <m:sub>
                                  <m:r>
                                    <a:rPr lang="en-US" i="1"/>
                                    <m:t>𝑛</m:t>
                                  </m:r>
                                </m:sub>
                              </m:sSub>
                              <m:r>
                                <a:rPr lang="en-US" i="1"/>
                                <m:t>|</m:t>
                              </m:r>
                            </m:e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i="1" dirty="0"/>
                  <a:t>Для вещественного: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 </m:t>
                      </m:r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f>
                            <m:fPr>
                              <m:ctrlPr>
                                <a:rPr lang="ru-RU" i="1"/>
                              </m:ctrlPr>
                            </m:fPr>
                            <m:num>
                              <m:r>
                                <a:rPr lang="en-US" i="1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𝑇</m:t>
                              </m:r>
                            </m:den>
                          </m:f>
                        </m:e>
                      </m:d>
                      <m:nary>
                        <m:naryPr>
                          <m:ctrlPr>
                            <a:rPr lang="ru-RU" i="1"/>
                          </m:ctrlPr>
                        </m:naryPr>
                        <m:sub>
                          <m:r>
                            <a:rPr lang="en-US" i="1"/>
                            <m:t>0</m:t>
                          </m:r>
                        </m:sub>
                        <m:sup>
                          <m:r>
                            <a:rPr lang="en-US" i="1"/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ru-RU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p>
                          <m:r>
                            <a:rPr lang="en-US" i="1"/>
                            <m:t>𝑑𝑡</m:t>
                          </m:r>
                          <m:r>
                            <a:rPr lang="en-US" i="1"/>
                            <m:t> </m:t>
                          </m:r>
                        </m:e>
                      </m:nary>
                      <m:r>
                        <a:rPr lang="ru-RU" i="1"/>
                        <m:t>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/>
                              </m:ctrlPr>
                            </m:sSubSupPr>
                            <m:e>
                              <m:r>
                                <a:rPr lang="en-US" i="1"/>
                                <m:t>𝑎</m:t>
                              </m:r>
                            </m:e>
                            <m:sub>
                              <m:r>
                                <a:rPr lang="en-US" i="1"/>
                                <m:t>0</m:t>
                              </m:r>
                            </m:sub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/>
                            <m:t>4</m:t>
                          </m:r>
                        </m:den>
                      </m:f>
                      <m:r>
                        <a:rPr lang="en-US" i="1"/>
                        <m:t>+ </m:t>
                      </m:r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f>
                            <m:fPr>
                              <m:ctrlPr>
                                <a:rPr lang="ru-RU" i="1"/>
                              </m:ctrlPr>
                            </m:fPr>
                            <m:num>
                              <m:r>
                                <a:rPr lang="en-US" i="1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2</m:t>
                              </m:r>
                            </m:den>
                          </m:f>
                        </m:e>
                      </m:d>
                      <m:sSubSup>
                        <m:sSubSupPr>
                          <m:ctrlPr>
                            <a:rPr lang="ru-RU" i="1"/>
                          </m:ctrlPr>
                        </m:sSubSupPr>
                        <m:e>
                          <m:r>
                            <a:rPr lang="ru-RU" i="1"/>
                            <m:t>𝛴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ru-RU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  <m:r>
                                <a:rPr lang="en-US" i="1"/>
                                <m:t>=1</m:t>
                              </m:r>
                            </m:e>
                          </m:d>
                        </m:sub>
                        <m:sup>
                          <m:r>
                            <a:rPr lang="en-US" i="1"/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/>
                              </m:ctrlPr>
                            </m:sSubSupPr>
                            <m:e>
                              <m:r>
                                <a:rPr lang="en-US" i="1"/>
                                <m:t>𝑎</m:t>
                              </m:r>
                            </m:e>
                            <m:sub>
                              <m:r>
                                <a:rPr lang="en-US" i="1"/>
                                <m:t>𝑛</m:t>
                              </m:r>
                            </m:sub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bSup>
                          <m:r>
                            <a:rPr lang="en-US" i="1"/>
                            <m:t>+ </m:t>
                          </m:r>
                          <m:sSubSup>
                            <m:sSubSupPr>
                              <m:ctrlPr>
                                <a:rPr lang="ru-RU" i="1"/>
                              </m:ctrlPr>
                            </m:sSubSupPr>
                            <m:e>
                              <m:r>
                                <a:rPr lang="en-US" i="1"/>
                                <m:t>𝑏</m:t>
                              </m:r>
                            </m:e>
                            <m:sub>
                              <m:r>
                                <a:rPr lang="en-US" i="1"/>
                                <m:t>𝑛</m:t>
                              </m:r>
                            </m:sub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i="1" dirty="0"/>
                  <a:t>Проверка равенства для функции 1: 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𝑓</m:t>
                      </m:r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ru-RU" i="1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/>
                          </m:ctrlPr>
                        </m:dPr>
                        <m:e>
                          <m:eqArr>
                            <m:eqArrPr>
                              <m:ctrlPr>
                                <a:rPr lang="ru-RU" i="1"/>
                              </m:ctrlPr>
                            </m:eqArrPr>
                            <m:e>
                              <m:r>
                                <a:rPr lang="en-US" i="1"/>
                                <m:t>𝑎</m:t>
                              </m:r>
                              <m:r>
                                <a:rPr lang="ru-RU" i="1"/>
                                <m:t>, </m:t>
                              </m:r>
                              <m:r>
                                <a:rPr lang="en-US" i="1"/>
                                <m:t>𝑡</m:t>
                              </m:r>
                              <m:r>
                                <a:rPr lang="ru-RU" i="1"/>
                                <m:t>∈[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ru-RU" i="1"/>
                                    <m:t>0</m:t>
                                  </m:r>
                                </m:sub>
                              </m:sSub>
                              <m:r>
                                <a:rPr lang="ru-RU" i="1"/>
                                <m:t>, 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ru-RU" i="1"/>
                                    <m:t>1</m:t>
                                  </m:r>
                                </m:sub>
                              </m:sSub>
                              <m:r>
                                <a:rPr lang="ru-RU" i="1"/>
                                <m:t>)</m:t>
                              </m:r>
                            </m:e>
                            <m:e>
                              <m:r>
                                <a:rPr lang="en-US" i="1"/>
                                <m:t>𝑏</m:t>
                              </m:r>
                              <m:r>
                                <a:rPr lang="ru-RU" i="1"/>
                                <m:t>, </m:t>
                              </m:r>
                              <m:r>
                                <a:rPr lang="en-US" i="1"/>
                                <m:t>𝑡</m:t>
                              </m:r>
                              <m:r>
                                <a:rPr lang="ru-RU" i="1"/>
                                <m:t>∈[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ru-RU" i="1"/>
                                    <m:t>1</m:t>
                                  </m:r>
                                </m:sub>
                              </m:sSub>
                              <m:r>
                                <a:rPr lang="ru-RU" i="1"/>
                                <m:t>, 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ru-RU" i="1"/>
                                    <m:t>2</m:t>
                                  </m:r>
                                </m:sub>
                              </m:sSub>
                              <m:r>
                                <a:rPr lang="ru-RU" i="1"/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en-US" i="1" dirty="0"/>
                  <a:t>T =2; N =300;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en-US" i="1"/>
                            <m:t>𝑃</m:t>
                          </m:r>
                        </m:e>
                        <m:sub>
                          <m:r>
                            <a:rPr lang="en-US" i="1"/>
                            <m:t>исх</m:t>
                          </m:r>
                        </m:sub>
                      </m:sSub>
                      <m:r>
                        <a:rPr lang="en-US" i="1"/>
                        <m:t>= </m:t>
                      </m:r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f>
                            <m:fPr>
                              <m:ctrlPr>
                                <a:rPr lang="ru-RU" i="1"/>
                              </m:ctrlPr>
                            </m:fPr>
                            <m:num>
                              <m:r>
                                <a:rPr lang="en-US" i="1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𝑇</m:t>
                              </m:r>
                            </m:den>
                          </m:f>
                        </m:e>
                      </m:d>
                      <m:nary>
                        <m:naryPr>
                          <m:ctrlPr>
                            <a:rPr lang="ru-RU" i="1"/>
                          </m:ctrlPr>
                        </m:naryPr>
                        <m:sub>
                          <m:r>
                            <a:rPr lang="en-US" i="1"/>
                            <m:t>0</m:t>
                          </m:r>
                        </m:sub>
                        <m:sup>
                          <m:r>
                            <a:rPr lang="en-US" i="1"/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ru-RU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p>
                          <m:r>
                            <a:rPr lang="en-US" i="1"/>
                            <m:t>𝑑𝑡</m:t>
                          </m:r>
                        </m:e>
                      </m:nary>
                      <m:r>
                        <a:rPr lang="en-US" i="1"/>
                        <m:t> = 2.49984998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en-US" i="1"/>
                            <m:t>𝑃</m:t>
                          </m:r>
                        </m:e>
                        <m:sub>
                          <m:r>
                            <a:rPr lang="en-US" i="1"/>
                            <m:t>𝐹𝑁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/>
                              </m:ctrlPr>
                            </m:sSubSupPr>
                            <m:e>
                              <m:r>
                                <a:rPr lang="en-US" i="1"/>
                                <m:t>𝑎</m:t>
                              </m:r>
                            </m:e>
                            <m:sub>
                              <m:r>
                                <a:rPr lang="en-US" i="1"/>
                                <m:t>0</m:t>
                              </m:r>
                            </m:sub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/>
                            <m:t>4</m:t>
                          </m:r>
                        </m:den>
                      </m:f>
                      <m:r>
                        <a:rPr lang="en-US" i="1"/>
                        <m:t>+ </m:t>
                      </m:r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f>
                            <m:fPr>
                              <m:ctrlPr>
                                <a:rPr lang="ru-RU" i="1"/>
                              </m:ctrlPr>
                            </m:fPr>
                            <m:num>
                              <m:r>
                                <a:rPr lang="en-US" i="1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2</m:t>
                              </m:r>
                            </m:den>
                          </m:f>
                        </m:e>
                      </m:d>
                      <m:sSubSup>
                        <m:sSubSupPr>
                          <m:ctrlPr>
                            <a:rPr lang="ru-RU" i="1"/>
                          </m:ctrlPr>
                        </m:sSubSupPr>
                        <m:e>
                          <m:r>
                            <a:rPr lang="en-US" i="1"/>
                            <m:t>𝛴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ru-RU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  <m:r>
                                <a:rPr lang="en-US" i="1"/>
                                <m:t>=1</m:t>
                              </m:r>
                            </m:e>
                          </m:d>
                        </m:sub>
                        <m:sup>
                          <m:r>
                            <a:rPr lang="en-US" i="1"/>
                            <m:t>𝑁</m:t>
                          </m:r>
                        </m:sup>
                      </m:sSubSup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/>
                              </m:ctrlPr>
                            </m:sSubSupPr>
                            <m:e>
                              <m:r>
                                <a:rPr lang="en-US" i="1"/>
                                <m:t>𝑎</m:t>
                              </m:r>
                            </m:e>
                            <m:sub>
                              <m:r>
                                <a:rPr lang="en-US" i="1"/>
                                <m:t>𝑛</m:t>
                              </m:r>
                            </m:sub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bSup>
                          <m:r>
                            <a:rPr lang="en-US" i="1"/>
                            <m:t>+ </m:t>
                          </m:r>
                          <m:sSubSup>
                            <m:sSubSupPr>
                              <m:ctrlPr>
                                <a:rPr lang="ru-RU" i="1"/>
                              </m:ctrlPr>
                            </m:sSubSupPr>
                            <m:e>
                              <m:r>
                                <a:rPr lang="en-US" i="1"/>
                                <m:t>𝑏</m:t>
                              </m:r>
                            </m:e>
                            <m:sub>
                              <m:r>
                                <a:rPr lang="en-US" i="1"/>
                                <m:t>𝑛</m:t>
                              </m:r>
                            </m:sub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i="1"/>
                        <m:t>= 2.49951325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en-US" i="1"/>
                            <m:t>𝑃</m:t>
                          </m:r>
                        </m:e>
                        <m:sub>
                          <m:r>
                            <a:rPr lang="en-US" i="1"/>
                            <m:t>𝐺𝑁</m:t>
                          </m:r>
                        </m:sub>
                      </m:sSub>
                      <m:r>
                        <a:rPr lang="en-US" i="1"/>
                        <m:t>= </m:t>
                      </m:r>
                      <m:sSubSup>
                        <m:sSubSupPr>
                          <m:ctrlPr>
                            <a:rPr lang="ru-RU" i="1"/>
                          </m:ctrlPr>
                        </m:sSubSupPr>
                        <m:e>
                          <m:r>
                            <a:rPr lang="en-US" i="1"/>
                            <m:t>𝛴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ru-RU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  <m:r>
                                <a:rPr lang="en-US" i="1"/>
                                <m:t>=−</m:t>
                              </m:r>
                              <m:r>
                                <a:rPr lang="en-US" i="1"/>
                                <m:t>𝑁</m:t>
                              </m:r>
                            </m:e>
                          </m:d>
                        </m:sub>
                        <m:sup>
                          <m:r>
                            <a:rPr lang="en-US" i="1"/>
                            <m:t>𝑁</m:t>
                          </m:r>
                        </m:sup>
                      </m:sSubSup>
                      <m:sSup>
                        <m:sSupPr>
                          <m:ctrlPr>
                            <a:rPr lang="ru-RU" i="1"/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𝑐</m:t>
                                  </m:r>
                                </m:e>
                                <m:sub>
                                  <m:r>
                                    <a:rPr lang="en-US" i="1"/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/>
                            <m:t>2</m:t>
                          </m:r>
                        </m:sup>
                      </m:sSup>
                      <m:r>
                        <a:rPr lang="en-US" i="1"/>
                        <m:t>= 2.49951325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F8916C-DE8E-8397-277D-1B6D3821E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524" y="904775"/>
                <a:ext cx="11184556" cy="5775158"/>
              </a:xfrm>
              <a:blipFill>
                <a:blip r:embed="rId2"/>
                <a:stretch>
                  <a:fillRect l="-545" t="-8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451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A9540-C196-0388-89C0-66F6D858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025" y="625642"/>
            <a:ext cx="8354729" cy="808522"/>
          </a:xfrm>
        </p:spPr>
        <p:txBody>
          <a:bodyPr>
            <a:normAutofit fontScale="90000"/>
          </a:bodyPr>
          <a:lstStyle/>
          <a:p>
            <a:r>
              <a:rPr lang="ru-RU" sz="2700" i="1" dirty="0"/>
              <a:t>Программная проверка </a:t>
            </a:r>
            <a:r>
              <a:rPr lang="ru-RU" sz="2700" dirty="0"/>
              <a:t>равенства Парсеваля: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4AEE53-BA99-FA97-181C-55A17AD754EC}"/>
                  </a:ext>
                </a:extLst>
              </p:cNvPr>
              <p:cNvSpPr txBox="1"/>
              <p:nvPr/>
            </p:nvSpPr>
            <p:spPr>
              <a:xfrm>
                <a:off x="924025" y="963201"/>
                <a:ext cx="5305926" cy="941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 Квадратная волна: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∈[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∈[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4AEE53-BA99-FA97-181C-55A17AD75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25" y="963201"/>
                <a:ext cx="5305926" cy="941925"/>
              </a:xfrm>
              <a:prstGeom prst="rect">
                <a:avLst/>
              </a:prstGeom>
              <a:blipFill>
                <a:blip r:embed="rId2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ACA500-5E78-BBED-9430-467CB5A84354}"/>
                  </a:ext>
                </a:extLst>
              </p:cNvPr>
              <p:cNvSpPr txBox="1"/>
              <p:nvPr/>
            </p:nvSpPr>
            <p:spPr>
              <a:xfrm>
                <a:off x="6562023" y="1031554"/>
                <a:ext cx="4276023" cy="87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2. Чётная периодическая функция: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cos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)|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𝜋</m:t>
                    </m:r>
                  </m:oMath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ACA500-5E78-BBED-9430-467CB5A84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023" y="1031554"/>
                <a:ext cx="4276023" cy="873572"/>
              </a:xfrm>
              <a:prstGeom prst="rect">
                <a:avLst/>
              </a:prstGeom>
              <a:blipFill>
                <a:blip r:embed="rId3"/>
                <a:stretch>
                  <a:fillRect l="-1140" b="-9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950B0D-29AA-8450-098C-C285A75E2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74" y="1927458"/>
            <a:ext cx="4269494" cy="1554096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440EE7-2E4D-722D-1C22-038584887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023" y="1927458"/>
            <a:ext cx="4293948" cy="15861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A294D2-AFB2-7AAE-92FF-30D5ECA8D95C}"/>
                  </a:ext>
                </a:extLst>
              </p:cNvPr>
              <p:cNvSpPr txBox="1"/>
              <p:nvPr/>
            </p:nvSpPr>
            <p:spPr>
              <a:xfrm>
                <a:off x="924025" y="3611442"/>
                <a:ext cx="4928135" cy="873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sin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 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𝜋</m:t>
                    </m:r>
                  </m:oMath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A294D2-AFB2-7AAE-92FF-30D5ECA8D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25" y="3611442"/>
                <a:ext cx="4928135" cy="873572"/>
              </a:xfrm>
              <a:prstGeom prst="rect">
                <a:avLst/>
              </a:prstGeom>
              <a:blipFill>
                <a:blip r:embed="rId6"/>
                <a:stretch>
                  <a:fillRect l="-11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2F79BD-8463-1D68-5C25-C0B2C633A1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273" y="4667456"/>
            <a:ext cx="4773215" cy="16852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109D59-FBEB-0A18-679F-BFC26107DED1}"/>
                  </a:ext>
                </a:extLst>
              </p:cNvPr>
              <p:cNvSpPr txBox="1"/>
              <p:nvPr/>
            </p:nvSpPr>
            <p:spPr>
              <a:xfrm>
                <a:off x="6562023" y="3611762"/>
                <a:ext cx="5375710" cy="873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4. Ни чётная, ни нечётная периодическая функция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sin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+0,5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cos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𝑡</a:t>
                </a:r>
                <a:r>
                  <a:rPr lang="en-US" sz="18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.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109D59-FBEB-0A18-679F-BFC26107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023" y="3611762"/>
                <a:ext cx="5375710" cy="873252"/>
              </a:xfrm>
              <a:prstGeom prst="rect">
                <a:avLst/>
              </a:prstGeom>
              <a:blipFill>
                <a:blip r:embed="rId8"/>
                <a:stretch>
                  <a:fillRect l="-907" r="-1020" b="-9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008BE2-6B42-3233-9969-35C9176BA4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023" y="4583186"/>
            <a:ext cx="4966298" cy="17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23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7A044-EA4B-9BCF-0F53-DE698865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>
                <a:cs typeface="Times New Roman" panose="02020603050405020304" pitchFamily="18" charset="0"/>
              </a:rPr>
              <a:t>Задание 2. Комплексная функция</a:t>
            </a:r>
            <a:br>
              <a:rPr lang="ru-RU" sz="4000" b="1" dirty="0">
                <a:cs typeface="Times New Roman" panose="02020603050405020304" pitchFamily="18" charset="0"/>
              </a:rPr>
            </a:br>
            <a:r>
              <a:rPr lang="ru-RU" sz="3900" b="1" dirty="0"/>
              <a:t>Формула для коэффициентов комплексного ряда Фурье</a:t>
            </a:r>
            <a:endParaRPr lang="ru-RU" sz="3900" b="1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F469A5-9683-9547-AEA1-9B9385DE1E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Общий вид: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  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Выполним замену: </a:t>
                </a:r>
                <a:r>
                  <a:rPr lang="en-US" dirty="0"/>
                  <a:t>t=</a:t>
                </a:r>
                <a:r>
                  <a:rPr lang="en-US" dirty="0" err="1"/>
                  <a:t>uT</a:t>
                </a:r>
                <a:r>
                  <a:rPr lang="en-US" dirty="0"/>
                  <a:t> =&gt; dt = </a:t>
                </a:r>
                <a:r>
                  <a:rPr lang="en-US" dirty="0" err="1"/>
                  <a:t>Tdu</a:t>
                </a:r>
                <a:r>
                  <a:rPr lang="en-US" dirty="0"/>
                  <a:t>. </a:t>
                </a:r>
                <a:r>
                  <a:rPr lang="ru-RU" dirty="0"/>
                  <a:t>Пределами интегрирования становятся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Таким образом формула для коэффициентов принимает вид: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𝑛𝑢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𝑑𝑢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F469A5-9683-9547-AEA1-9B9385DE1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957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39648F-C4EA-57FE-20E5-03A4985624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2277" y="218588"/>
                <a:ext cx="11192538" cy="59926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После подстановки </a:t>
                </a:r>
                <a:r>
                  <a:rPr lang="en-US" dirty="0"/>
                  <a:t>t=</a:t>
                </a:r>
                <a:r>
                  <a:rPr lang="en-US" dirty="0" err="1"/>
                  <a:t>uT</a:t>
                </a:r>
                <a:r>
                  <a:rPr lang="ru-RU" dirty="0"/>
                  <a:t> функция принимает вид: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d>
                                    <m:dPr>
                                      <m:begChr m:val="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2−8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d>
                                    <m:dPr>
                                      <m:begChr m:val="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(4−8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),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d>
                                    <m:dPr>
                                      <m:begChr m:val="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−6+8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d>
                                    <m:dPr>
                                      <m:begChr m:val="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Тогда коэффициенты Фурье вычисляются по формуле</a:t>
                </a:r>
                <a:r>
                  <a:rPr lang="en-US" dirty="0"/>
                  <a:t>:</a:t>
                </a:r>
                <a:endParaRPr lang="ru-RU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limLoc m:val="subSup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b>
                          <m:sup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𝑛𝑢</m:t>
                                </m:r>
                              </m:sup>
                            </m:sSup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limLoc m:val="subSup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b>
                          <m:sup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(2−8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𝑛𝑢</m:t>
                                </m:r>
                              </m:sup>
                            </m:sSup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limLoc m:val="subSup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b>
                          <m:sup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(−1+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(4−8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))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𝑛𝑢</m:t>
                                </m:r>
                              </m:sup>
                            </m:sSup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limLoc m:val="subSup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b>
                          <m:sup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(−6+8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𝑛𝑢</m:t>
                                </m:r>
                              </m:sup>
                            </m:sSup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39648F-C4EA-57FE-20E5-03A4985624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2277" y="218588"/>
                <a:ext cx="11192538" cy="5992665"/>
              </a:xfrm>
              <a:blipFill>
                <a:blip r:embed="rId2"/>
                <a:stretch>
                  <a:fillRect l="-794" t="-8034" b="-21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796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2A1B666-667F-5420-09D2-3DC1A0352F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36525"/>
                <a:ext cx="11049000" cy="896605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sz="4000" b="1" dirty="0"/>
                  <a:t>Вычисление коэффициентов при </a:t>
                </a:r>
                <a:r>
                  <a:rPr lang="en-US" sz="4000" b="1" dirty="0"/>
                  <a:t>N=2</a:t>
                </a:r>
                <a:r>
                  <a:rPr lang="ru-RU" sz="4000" b="1" dirty="0"/>
                  <a:t> </a:t>
                </a:r>
                <a:r>
                  <a:rPr lang="en-US" sz="4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4000" b="1" dirty="0"/>
                  <a:t>)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2A1B666-667F-5420-09D2-3DC1A0352F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36525"/>
                <a:ext cx="11049000" cy="896605"/>
              </a:xfrm>
              <a:blipFill>
                <a:blip r:embed="rId3"/>
                <a:stretch>
                  <a:fillRect l="-1722" t="-16667" b="-4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F058F62-93F7-E7DB-832C-9A8ED3196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0638"/>
                <a:ext cx="10418135" cy="567944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Вычисление коэффициента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Подставляем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</m:e>
                      </m:nary>
                      <m:r>
                        <a:rPr lang="en-US" sz="22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(2−8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</m:e>
                      </m:nary>
                      <m:r>
                        <a:rPr lang="en-US" sz="22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(−1+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(4−8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))</m:t>
                          </m:r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</m:e>
                      </m:nary>
                      <m:r>
                        <a:rPr lang="en-US" sz="2200" i="1">
                          <a:latin typeface="Cambria Math" panose="02040503050406030204" pitchFamily="18" charset="0"/>
                        </a:rPr>
                        <m:t>𝑑𝑢</m:t>
                      </m:r>
                      <m:f>
                        <m:f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(−6+8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</m:e>
                      </m:nary>
                      <m:r>
                        <a:rPr lang="en-US" sz="2200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Суммируя и умножая на </a:t>
                </a:r>
                <a:r>
                  <a:rPr lang="en-US" sz="2200" dirty="0"/>
                  <a:t>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F058F62-93F7-E7DB-832C-9A8ED3196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0638"/>
                <a:ext cx="10418135" cy="5679448"/>
              </a:xfrm>
              <a:blipFill>
                <a:blip r:embed="rId4"/>
                <a:stretch>
                  <a:fillRect l="-731" t="-8036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547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0B03258-B102-FF58-BD16-D5DA068FA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201" y="542537"/>
                <a:ext cx="10793819" cy="577292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Аналогично вычислениям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​, подставляя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=−2, −1, 0, 2</m:t>
                    </m:r>
                  </m:oMath>
                </a14:m>
                <a:r>
                  <a:rPr lang="ru-RU" dirty="0"/>
                  <a:t> в экспоненту, получаем:	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 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 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dirty="0"/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Итоговые значения коэффициентов при </a:t>
                </a:r>
                <a:r>
                  <a:rPr lang="en-US" dirty="0"/>
                  <a:t>N=2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,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 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=0,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0B03258-B102-FF58-BD16-D5DA068FA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201" y="542537"/>
                <a:ext cx="10793819" cy="5772926"/>
              </a:xfrm>
              <a:blipFill>
                <a:blip r:embed="rId2"/>
                <a:stretch>
                  <a:fillRect l="-588" t="-8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325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292CB-DCE4-059D-E0E7-78B2A5DCD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03" y="258808"/>
            <a:ext cx="10978116" cy="1325563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Программа для вычисления коэффициентов ряда Фурье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583AAF-0CBF-4AD5-DE8B-824CFA0F4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961" y="13152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Результаты работы программы при </a:t>
            </a:r>
            <a:r>
              <a:rPr lang="en-US" dirty="0"/>
              <a:t>N=2: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739DC2-83FE-CFAB-C858-34FBB19B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25" y="1853481"/>
            <a:ext cx="10849594" cy="38131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B87609-4964-5370-C78A-C3483FB2122C}"/>
              </a:ext>
            </a:extLst>
          </p:cNvPr>
          <p:cNvSpPr txBox="1"/>
          <p:nvPr/>
        </p:nvSpPr>
        <p:spPr>
          <a:xfrm>
            <a:off x="3985305" y="593571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Совпадает с расчетами вручную</a:t>
            </a:r>
          </a:p>
        </p:txBody>
      </p:sp>
    </p:spTree>
    <p:extLst>
      <p:ext uri="{BB962C8B-B14F-4D97-AF65-F5344CB8AC3E}">
        <p14:creationId xmlns:p14="http://schemas.microsoft.com/office/powerpoint/2010/main" val="751288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88880-97BA-E31C-D18D-700D93AF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454025"/>
            <a:ext cx="10396870" cy="662689"/>
          </a:xfrm>
        </p:spPr>
        <p:txBody>
          <a:bodyPr>
            <a:noAutofit/>
          </a:bodyPr>
          <a:lstStyle/>
          <a:p>
            <a:r>
              <a:rPr lang="ru-RU" sz="3600" b="1" dirty="0"/>
              <a:t>Графики частичных сумм ряда при </a:t>
            </a:r>
            <a:r>
              <a:rPr lang="en-US" sz="3600" b="1" dirty="0"/>
              <a:t>N=1, 2, 3, 10</a:t>
            </a:r>
            <a:br>
              <a:rPr lang="ru-RU" sz="3600" dirty="0"/>
            </a:b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4847CC-4AA6-BC9E-F71F-9E173FACE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60" y="1633724"/>
            <a:ext cx="5223340" cy="4195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991B81-E913-B839-9EBD-3C09A32E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48" y="1633725"/>
            <a:ext cx="5253996" cy="419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9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5A03BE-8B1C-BC81-0477-FD563500B7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14"/>
          <a:stretch>
            <a:fillRect/>
          </a:stretch>
        </p:blipFill>
        <p:spPr bwMode="auto">
          <a:xfrm>
            <a:off x="942947" y="1249810"/>
            <a:ext cx="5477470" cy="44898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6FFF8F-7E57-C706-91DE-07663793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08" y="1249811"/>
            <a:ext cx="5514678" cy="44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02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6E83D-4857-2C57-F9F6-05EAC150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Краткий вывод по графикам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49E4343-322C-A1AE-4C98-8BBE659F0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38300"/>
                <a:ext cx="9601200" cy="3581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По мере увеличения числа членов ряда N параметрические графики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/>
                  <a:t> последовательно приближаются к графику исходной функции f(t): сначала сильно сглаженная окружность, затем более «квадратная» фигура и, наконец, почти точное совпадение при N=10. Это демонстрирует сходимость комплексного ряда Фурье к исходной функции.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49E4343-322C-A1AE-4C98-8BBE659F0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38300"/>
                <a:ext cx="9601200" cy="3581400"/>
              </a:xfrm>
              <a:blipFill>
                <a:blip r:embed="rId2"/>
                <a:stretch>
                  <a:fillRect l="-661" t="-1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461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2DDA0-EBA8-23CE-CC3B-0003E0D77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37" y="375999"/>
            <a:ext cx="115570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Построение графиков мнимой и действительной частей при </a:t>
            </a:r>
            <a:r>
              <a:rPr lang="en-US" sz="3600" b="1" dirty="0"/>
              <a:t>N=1, 2, 3, 10	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DEF3CC-1EA0-874B-433B-579A2963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0" y="1864757"/>
            <a:ext cx="5328286" cy="39544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BD059-E19B-B659-9286-FE132073C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937" y="1864757"/>
            <a:ext cx="5304766" cy="395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561C84-A3AC-A5D2-CE06-6D60E2DE3C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82" r="16759" b="-1"/>
          <a:stretch>
            <a:fillRect/>
          </a:stretch>
        </p:blipFill>
        <p:spPr>
          <a:xfrm>
            <a:off x="1037161" y="643467"/>
            <a:ext cx="5058839" cy="55710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2E9F76-133C-9ABC-DD61-A6C32D3E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17" r="15253" b="3"/>
          <a:stretch>
            <a:fillRect/>
          </a:stretch>
        </p:blipFill>
        <p:spPr>
          <a:xfrm>
            <a:off x="6839601" y="643467"/>
            <a:ext cx="505883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74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8C19E-6599-9EF1-211B-738C97B9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по графикам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1F1952-61E0-15E5-2BEF-CC2A397E2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ru-RU" dirty="0"/>
                  <a:t>При малом числе членов ряда частичные суммы плохо приближают исходную кусочно-линейную функцию: графики близки к синусам.</a:t>
                </a:r>
              </a:p>
              <a:p>
                <a:pPr lvl="0"/>
                <a:r>
                  <a:rPr lang="ru-RU" dirty="0"/>
                  <a:t>При N=3 и особенно при N=10 ряды Фурье дают уже очень хорошее приближение: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ru-RU" dirty="0"/>
                  <a:t> и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ru-RU" dirty="0"/>
                  <a:t> визуально повторяют форму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ru-RU" dirty="0"/>
                  <a:t>, за исключением небольших осцилляций в местах изломов.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1F1952-61E0-15E5-2BEF-CC2A397E2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8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673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DAF11-E17B-2DA8-A55A-EBE6D14F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61925"/>
            <a:ext cx="10515600" cy="1325563"/>
          </a:xfrm>
        </p:spPr>
        <p:txBody>
          <a:bodyPr/>
          <a:lstStyle/>
          <a:p>
            <a:r>
              <a:rPr lang="ru-RU" b="1" dirty="0"/>
              <a:t>Проверка выполнения равенства Парсеваля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841D6F6-9732-C1EF-25AB-BC0407881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9800" y="1487488"/>
                <a:ext cx="11099800" cy="55625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Энергия частичной суммы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должна быть примерно равна сумме энергий всех используемых гармоник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и примерно равна энергии исходной функции f(t).</a:t>
                </a:r>
              </a:p>
              <a:p>
                <a:pPr marL="0" indent="0">
                  <a:buNone/>
                </a:pPr>
                <a:r>
                  <a:rPr lang="ru-RU" dirty="0"/>
                  <a:t>Численная проверка при </a:t>
                </a:r>
                <a:r>
                  <a:rPr lang="en-US" dirty="0"/>
                  <a:t>N =10: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≈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1.3333333</m:t>
                    </m:r>
                  </m:oMath>
                </a14:m>
                <a:r>
                  <a:rPr lang="ru-RU" dirty="0"/>
                  <a:t>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≈1.3331186</m:t>
                        </m:r>
                      </m:e>
                    </m:nary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=−10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≈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1.3331186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Равенство Парсеваля для рассматриваемой функции выполняется с высокой точностью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841D6F6-9732-C1EF-25AB-BC0407881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9800" y="1487488"/>
                <a:ext cx="11099800" cy="5562599"/>
              </a:xfrm>
              <a:blipFill>
                <a:blip r:embed="rId2"/>
                <a:stretch>
                  <a:fillRect l="-2740" t="-21412" r="-2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707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F4517-4E9E-0206-CE67-79841ECD8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7240"/>
          </a:xfrm>
        </p:spPr>
        <p:txBody>
          <a:bodyPr/>
          <a:lstStyle/>
          <a:p>
            <a:r>
              <a:rPr lang="ru-RU" b="1" dirty="0"/>
              <a:t>Задание 3. Произвольный рисунок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6C8278B-99BF-1538-D27D-16C96A974F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57350"/>
                <a:ext cx="9601200" cy="40347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В качестве произвольного рисунка мы выбрали замкнутую кривую – сердце, заданную следующими параметрическими уравнениями: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=16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=13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(3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func>
                                    <m:func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(4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[0;2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Кривая дискретизирована на </a:t>
                </a:r>
                <a:r>
                  <a:rPr lang="en-US" dirty="0"/>
                  <a:t>N</a:t>
                </a:r>
                <a:r>
                  <a:rPr lang="ru-RU" dirty="0"/>
                  <a:t> = 1000 точек с равномерным шагом по параметру </a:t>
                </a:r>
                <a:r>
                  <a:rPr lang="en-US" dirty="0"/>
                  <a:t>t</a:t>
                </a:r>
                <a:r>
                  <a:rPr lang="ru-RU" dirty="0"/>
                  <a:t>, что обеспечивает:</a:t>
                </a:r>
              </a:p>
              <a:p>
                <a:pPr marL="0" indent="0">
                  <a:buNone/>
                </a:pPr>
                <a:r>
                  <a:rPr lang="ru-RU" dirty="0"/>
                  <a:t>	Последовательное расположение точек в порядке обхода контура;</a:t>
                </a:r>
              </a:p>
              <a:p>
                <a:pPr marL="0" indent="0">
                  <a:buNone/>
                </a:pPr>
                <a:r>
                  <a:rPr lang="ru-RU" dirty="0"/>
                  <a:t>	Достаточную близость соседних точек.</a:t>
                </a:r>
              </a:p>
              <a:p>
                <a:r>
                  <a:rPr lang="ru-RU" dirty="0"/>
                  <a:t>Каждая точка представлена в виде комплексного числа: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𝑖𝑦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=0,1, …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6C8278B-99BF-1538-D27D-16C96A974F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57350"/>
                <a:ext cx="9601200" cy="4034790"/>
              </a:xfrm>
              <a:blipFill>
                <a:blip r:embed="rId2"/>
                <a:stretch>
                  <a:fillRect l="-661" t="-18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572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диаграмм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4DC2B0-BCA0-CC2B-7D41-B9E980A53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311" y="480515"/>
            <a:ext cx="5833376" cy="58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18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График, диаграмма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83F015-DF2C-4959-8021-C07A3AC67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" t="7361" r="3706" b="13952"/>
          <a:stretch>
            <a:fillRect/>
          </a:stretch>
        </p:blipFill>
        <p:spPr bwMode="auto">
          <a:xfrm>
            <a:off x="482600" y="481352"/>
            <a:ext cx="11226799" cy="589062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080909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Анимация_Сердца.mov">
            <a:hlinkClick r:id="" action="ppaction://media"/>
            <a:extLst>
              <a:ext uri="{FF2B5EF4-FFF2-40B4-BE49-F238E27FC236}">
                <a16:creationId xmlns:a16="http://schemas.microsoft.com/office/drawing/2014/main" id="{B76B9FDB-7FBC-23BC-B952-FC3FD92F0FA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42464" y="480515"/>
            <a:ext cx="5907071" cy="58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1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89</TotalTime>
  <Words>1294</Words>
  <Application>Microsoft Office PowerPoint</Application>
  <PresentationFormat>Широкоэкранный</PresentationFormat>
  <Paragraphs>130</Paragraphs>
  <Slides>36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Franklin Gothic Book</vt:lpstr>
      <vt:lpstr>Times New Roman</vt:lpstr>
      <vt:lpstr>Уголки</vt:lpstr>
      <vt:lpstr>ЛАБОРАТОРНАЯ РАБОТА 1 Ряды Фурье  Работу выполнили: Федоров Дмитрий, Хахулина Светлана, Косогова Мария </vt:lpstr>
      <vt:lpstr>Задание 1 Вещественные функции</vt:lpstr>
      <vt:lpstr>Значения коэффициентов:</vt:lpstr>
      <vt:lpstr>Презентация PowerPoint</vt:lpstr>
      <vt:lpstr>Презентация PowerPoint</vt:lpstr>
      <vt:lpstr>Презентация PowerPoint</vt:lpstr>
      <vt:lpstr>Презентация PowerPoint</vt:lpstr>
      <vt:lpstr>Программный расчёт коэффициентов:</vt:lpstr>
      <vt:lpstr>Презентация PowerPoint</vt:lpstr>
      <vt:lpstr>1. Квадратная волна: f(t)={█(a, t∈[t_0, t_1)@b, t∈[t_1, t_2))┤ </vt:lpstr>
      <vt:lpstr>Презентация PowerPoint</vt:lpstr>
      <vt:lpstr>2. Чётная периодическая функция: f(t)=|cos(t)|, T=π </vt:lpstr>
      <vt:lpstr>Презентация PowerPoint</vt:lpstr>
      <vt:lpstr>3. Нечётная периодическая функция f(t)=sin(t),   T=2π </vt:lpstr>
      <vt:lpstr>Презентация PowerPoint</vt:lpstr>
      <vt:lpstr>4. Ни чётная, ни нечётная периодическая функция f(t)=sin(t)+0,5cos,(2𝑡.), T=2π  </vt:lpstr>
      <vt:lpstr>Презентация PowerPoint</vt:lpstr>
      <vt:lpstr>Анализ графиков:</vt:lpstr>
      <vt:lpstr>Проверка равенства Парсеваля: </vt:lpstr>
      <vt:lpstr>Программная проверка равенства Парсеваля: </vt:lpstr>
      <vt:lpstr>Задание 2. Комплексная функция Формула для коэффициентов комплексного ряда Фурье</vt:lpstr>
      <vt:lpstr>Презентация PowerPoint</vt:lpstr>
      <vt:lpstr>Вычисление коэффициентов при N=2 (c_(-2), c_(-1), c_0, c_1, c_2) </vt:lpstr>
      <vt:lpstr>Презентация PowerPoint</vt:lpstr>
      <vt:lpstr>Программа для вычисления коэффициентов ряда Фурье </vt:lpstr>
      <vt:lpstr>Графики частичных сумм ряда при N=1, 2, 3, 10 </vt:lpstr>
      <vt:lpstr>Презентация PowerPoint</vt:lpstr>
      <vt:lpstr>Краткий вывод по графикам</vt:lpstr>
      <vt:lpstr>Построение графиков мнимой и действительной частей при N=1, 2, 3, 10 </vt:lpstr>
      <vt:lpstr>Презентация PowerPoint</vt:lpstr>
      <vt:lpstr>Вывод по графикам</vt:lpstr>
      <vt:lpstr>Проверка выполнения равенства Парсеваля</vt:lpstr>
      <vt:lpstr>Задание 3. Произвольный рисунок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Prosto Svetochka</dc:creator>
  <cp:lastModifiedBy>Федоров Дмитрий Александрович</cp:lastModifiedBy>
  <cp:revision>4</cp:revision>
  <dcterms:created xsi:type="dcterms:W3CDTF">2025-12-07T09:37:42Z</dcterms:created>
  <dcterms:modified xsi:type="dcterms:W3CDTF">2025-12-08T00:26:37Z</dcterms:modified>
</cp:coreProperties>
</file>