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16" r:id="rId1"/>
  </p:sldMasterIdLst>
  <p:notesMasterIdLst>
    <p:notesMasterId r:id="rId9"/>
  </p:notes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E4116FB2-5C31-1546-BF59-8718659FAB37}">
          <p14:sldIdLst>
            <p14:sldId id="256"/>
            <p14:sldId id="257"/>
            <p14:sldId id="260"/>
            <p14:sldId id="258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18"/>
    <p:restoredTop sz="94541"/>
  </p:normalViewPr>
  <p:slideViewPr>
    <p:cSldViewPr snapToGrid="0">
      <p:cViewPr>
        <p:scale>
          <a:sx n="66" d="100"/>
          <a:sy n="66" d="100"/>
        </p:scale>
        <p:origin x="840" y="1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8" d="100"/>
          <a:sy n="98" d="100"/>
        </p:scale>
        <p:origin x="37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FBB1A-088F-A84C-91E9-B96B5B7A7BB3}" type="datetimeFigureOut">
              <a:rPr lang="ru-RU" smtClean="0"/>
              <a:t>04.05.2025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65610-CA77-D640-849F-CDAA2FA6B3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39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65610-CA77-D640-849F-CDAA2FA6B3B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6573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65610-CA77-D640-849F-CDAA2FA6B3B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679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465610-CA77-D640-849F-CDAA2FA6B3B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95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smtClean="0"/>
              <a:t>5/3/25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94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FF5DD9-2C52-442D-92E2-8072C0C3D7CD}" type="datetimeFigureOut">
              <a:rPr lang="en-US" smtClean="0"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45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smtClean="0"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18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D3D6FB-79CC-4683-A046-BBE785BA1BED}" type="datetimeFigureOut">
              <a:rPr lang="en-US" smtClean="0"/>
              <a:t>5/3/25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339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512B3E8-48F1-4B23-8498-D8A04A81EC9C}" type="datetimeFigureOut">
              <a:rPr lang="en-US" smtClean="0"/>
              <a:t>5/3/25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845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B90D90-AA62-404D-A741-635B4370F9CB}" type="datetimeFigureOut">
              <a:rPr lang="en-US" smtClean="0"/>
              <a:t>5/3/25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855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7002E4-6836-46D1-9DBB-3C27C0DD3A89}" type="datetimeFigureOut">
              <a:rPr lang="en-US" smtClean="0"/>
              <a:t>5/3/25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760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F131DD-A141-4471-BCF9-C6073EDD7E20}" type="datetimeFigureOut">
              <a:rPr lang="en-US" smtClean="0"/>
              <a:t>5/3/25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7325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smtClean="0"/>
              <a:t>5/3/25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71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1A6AA8-A04B-4104-9AE2-BD48D340E27F}" type="datetimeFigureOut">
              <a:rPr lang="en-US" smtClean="0"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070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E0BF79-FAC6-4A96-8DE1-F7B82E2E1652}" type="datetimeFigureOut">
              <a:rPr lang="en-US" smtClean="0"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550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1947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C9608E-6034-1B70-C8BA-2A8E79A73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7698" y="2164563"/>
            <a:ext cx="9196603" cy="2977448"/>
          </a:xfrm>
        </p:spPr>
        <p:txBody>
          <a:bodyPr/>
          <a:lstStyle/>
          <a:p>
            <a:r>
              <a:rPr lang="ru-RU" sz="4000" b="1" dirty="0">
                <a:ea typeface="Brush Script MT" panose="03060802040406070304" pitchFamily="66" charset="-122"/>
                <a:cs typeface="Brush Script MT" panose="03060802040406070304" pitchFamily="66" charset="-122"/>
              </a:rPr>
              <a:t>Сергей Васильевич ЛЕБЕДЕВ И СОВЕТСКАЯ ХИМИЯ</a:t>
            </a:r>
          </a:p>
        </p:txBody>
      </p:sp>
    </p:spTree>
    <p:extLst>
      <p:ext uri="{BB962C8B-B14F-4D97-AF65-F5344CB8AC3E}">
        <p14:creationId xmlns:p14="http://schemas.microsoft.com/office/powerpoint/2010/main" val="390051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A7701-F437-91A3-CDDC-CCF58B7A1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536" y="374904"/>
            <a:ext cx="6930189" cy="12184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600" b="1" dirty="0"/>
              <a:t>Ранние годы и образование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FF7F1-C559-043E-E961-CF5DA5DD82AE}"/>
              </a:ext>
            </a:extLst>
          </p:cNvPr>
          <p:cNvSpPr txBox="1"/>
          <p:nvPr/>
        </p:nvSpPr>
        <p:spPr>
          <a:xfrm>
            <a:off x="368888" y="1730526"/>
            <a:ext cx="7292821" cy="4023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45770" indent="-34290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r>
              <a:rPr lang="en-US" dirty="0"/>
              <a:t>13 (25) июля 1874 года – родился Сергей Васильевич</a:t>
            </a:r>
            <a:endParaRPr lang="ru-RU" dirty="0"/>
          </a:p>
          <a:p>
            <a:pPr marL="445770" indent="-34290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r>
              <a:rPr lang="en-US" dirty="0"/>
              <a:t>1885 год – поступил в 1-й класс Варшавской гимназии</a:t>
            </a:r>
            <a:endParaRPr lang="ru-RU" dirty="0"/>
          </a:p>
          <a:p>
            <a:pPr marL="445770" indent="-34290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r>
              <a:rPr lang="ru-RU" dirty="0"/>
              <a:t>С юности увлекался химией и в 17 лет начал преподавать ее</a:t>
            </a:r>
          </a:p>
          <a:p>
            <a:pPr marL="445770" indent="-34290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r>
              <a:rPr lang="ru-RU" dirty="0"/>
              <a:t>1895 год – поступил в Петербургский университет на физико – математическое отделение</a:t>
            </a:r>
          </a:p>
          <a:p>
            <a:pPr marL="445770" indent="-34290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r>
              <a:rPr lang="ru-RU" dirty="0"/>
              <a:t>Работал в лаборатории у профессора Фаворского </a:t>
            </a:r>
          </a:p>
          <a:p>
            <a:pPr marL="445770" indent="-34290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r>
              <a:rPr lang="ru-RU" dirty="0"/>
              <a:t>С 1899 года увлекся общественными движениями, участвовал в забастовках, за что был арестован </a:t>
            </a:r>
          </a:p>
          <a:p>
            <a:pPr marL="445770" indent="-34290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r>
              <a:rPr lang="ru-RU" dirty="0"/>
              <a:t>1900 год – окончил университет с дипломом первой степени</a:t>
            </a:r>
          </a:p>
          <a:p>
            <a:pPr marL="10287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</a:pPr>
            <a:endParaRPr lang="ru-RU" dirty="0"/>
          </a:p>
          <a:p>
            <a:pPr marL="445770" indent="-34290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endParaRPr lang="ru-RU" dirty="0"/>
          </a:p>
          <a:p>
            <a:pPr marL="445770" indent="-34290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endParaRPr lang="ru-RU" b="0" i="0" dirty="0">
              <a:solidFill>
                <a:srgbClr val="1E1E1E"/>
              </a:solidFill>
              <a:effectLst/>
              <a:latin typeface="Onest"/>
            </a:endParaRPr>
          </a:p>
          <a:p>
            <a:pPr marL="10287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</a:pPr>
            <a:endParaRPr lang="en-US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2E245FD-8125-94DB-C029-24498DB49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" r="11585" b="-2"/>
          <a:stretch/>
        </p:blipFill>
        <p:spPr bwMode="auto">
          <a:xfrm>
            <a:off x="7456725" y="374904"/>
            <a:ext cx="4366387" cy="607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335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0DFF88D-F93B-4DAC-1EE7-900D5FFC3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2074" y="405926"/>
            <a:ext cx="5486755" cy="1371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3000" b="1" dirty="0"/>
              <a:t>Карьера и первые шаги в научной деятельности</a:t>
            </a:r>
            <a:endParaRPr lang="en-US" sz="3000" b="1" dirty="0"/>
          </a:p>
        </p:txBody>
      </p:sp>
      <p:sp>
        <p:nvSpPr>
          <p:cNvPr id="3097" name="Rectangle 3096">
            <a:extLst>
              <a:ext uri="{FF2B5EF4-FFF2-40B4-BE49-F238E27FC236}">
                <a16:creationId xmlns:a16="http://schemas.microsoft.com/office/drawing/2014/main" id="{2A4D183E-A455-400F-B558-5EF3C42F6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solidFill>
            <a:schemeClr val="tx2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sp>
        <p:nvSpPr>
          <p:cNvPr id="3099" name="Rectangle 3098">
            <a:extLst>
              <a:ext uri="{FF2B5EF4-FFF2-40B4-BE49-F238E27FC236}">
                <a16:creationId xmlns:a16="http://schemas.microsoft.com/office/drawing/2014/main" id="{46EC6A0A-8EDD-4CAD-8301-B0613EFB6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2175" y="1005675"/>
            <a:ext cx="4800601" cy="4870174"/>
          </a:xfrm>
          <a:prstGeom prst="rect">
            <a:avLst/>
          </a:prstGeom>
          <a:solidFill>
            <a:schemeClr val="tx1"/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ru-RU"/>
          </a:p>
        </p:txBody>
      </p:sp>
      <p:pic>
        <p:nvPicPr>
          <p:cNvPr id="3078" name="Picture 6" descr="Изображение выглядит как Человеческое лицо, человек, одежда, черно-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E8D7D85-64F5-D9EA-D6DF-81DE36B9A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9" r="28206" b="2"/>
          <a:stretch/>
        </p:blipFill>
        <p:spPr bwMode="auto">
          <a:xfrm>
            <a:off x="1304515" y="1328394"/>
            <a:ext cx="4188221" cy="422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A242BE7C-AAE9-D374-BB5C-51824D4DF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2073" y="1750291"/>
            <a:ext cx="5486755" cy="412555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ru-RU" dirty="0"/>
              <a:t> 1902 год – приглашен лаборантом в отделение технической и аналитической химии Санкт-Петербургского университета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ru-RU" dirty="0"/>
              <a:t> 1904-1905 год – призван на военную службу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ru-RU" dirty="0"/>
              <a:t> 1905 год – работал в Сорбонне под руководством Виктора Анри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ru-RU" dirty="0"/>
              <a:t> 1908 год - представил первый научный доклад на заседании Русского физико-химического общества о скоростях полимеризации эфиров акриловой кислоты.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ru-RU" dirty="0"/>
              <a:t> 1913 год - избран приват-доцентом Петербургского университета, читал курс «Современное состояние и значение учения о валентности».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ru-RU" dirty="0"/>
              <a:t> 1915 год - стал преподавателем Женского педагогического института</a:t>
            </a:r>
          </a:p>
          <a:p>
            <a:pPr marL="0" indent="0">
              <a:lnSpc>
                <a:spcPct val="90000"/>
              </a:lnSpc>
              <a:buNone/>
            </a:pPr>
            <a:endParaRPr lang="ru-RU" sz="1000" dirty="0"/>
          </a:p>
          <a:p>
            <a:pPr marL="0" indent="0">
              <a:lnSpc>
                <a:spcPct val="90000"/>
              </a:lnSpc>
              <a:buNone/>
            </a:pPr>
            <a:endParaRPr lang="ru-RU" sz="1000" dirty="0"/>
          </a:p>
          <a:p>
            <a:pPr marL="0" indent="0">
              <a:lnSpc>
                <a:spcPct val="90000"/>
              </a:lnSpc>
              <a:buNone/>
            </a:pPr>
            <a:endParaRPr lang="ru-RU" sz="1000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548187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6FABFB90-8487-829F-A900-40E961075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4D38C9B-4E70-F1E5-6AEF-9B3AB04983F0}"/>
              </a:ext>
            </a:extLst>
          </p:cNvPr>
          <p:cNvSpPr txBox="1">
            <a:spLocks/>
          </p:cNvSpPr>
          <p:nvPr/>
        </p:nvSpPr>
        <p:spPr>
          <a:xfrm>
            <a:off x="573314" y="201521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>
              <a:spcAft>
                <a:spcPts val="600"/>
              </a:spcAft>
            </a:pPr>
            <a:r>
              <a:rPr lang="ru-RU" sz="3600" b="1" dirty="0"/>
              <a:t>Научные исследования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A70FD-225C-0AE1-A8B4-ED7F9D7B8EFE}"/>
              </a:ext>
            </a:extLst>
          </p:cNvPr>
          <p:cNvSpPr txBox="1"/>
          <p:nvPr/>
        </p:nvSpPr>
        <p:spPr>
          <a:xfrm>
            <a:off x="709387" y="1573121"/>
            <a:ext cx="57204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Исследования полимеризации непредельных соединений (1908–1913)</a:t>
            </a: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синтетического каучука (1926–1932)</a:t>
            </a: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Исследования в области переработки нефти и катализа (1930–1934)</a:t>
            </a: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851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8" name="Rectangle 4102">
            <a:extLst>
              <a:ext uri="{FF2B5EF4-FFF2-40B4-BE49-F238E27FC236}">
                <a16:creationId xmlns:a16="http://schemas.microsoft.com/office/drawing/2014/main" id="{A33E099E-5E87-4370-9D16-9472F4DE6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4">
            <a:extLst>
              <a:ext uri="{FF2B5EF4-FFF2-40B4-BE49-F238E27FC236}">
                <a16:creationId xmlns:a16="http://schemas.microsoft.com/office/drawing/2014/main" id="{7D589A3A-5F68-4F8D-ABD6-BC3EA735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4674" y="237744"/>
            <a:ext cx="7622695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  <p:txBody>
          <a:bodyPr/>
          <a:lstStyle/>
          <a:p>
            <a:endParaRPr lang="ru-RU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70D08251-BE82-4FAB-9DCF-4FF7430FB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921" y="372498"/>
            <a:ext cx="7351964" cy="61130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AF28036-AC4F-7580-3543-75976C4B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59" y="342613"/>
            <a:ext cx="6281928" cy="17441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/>
              <a:t>Последние годы жизни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1D561F-744F-9F7D-85B7-EDC07B689ADD}"/>
              </a:ext>
            </a:extLst>
          </p:cNvPr>
          <p:cNvSpPr txBox="1"/>
          <p:nvPr/>
        </p:nvSpPr>
        <p:spPr>
          <a:xfrm>
            <a:off x="687944" y="1800880"/>
            <a:ext cx="6281928" cy="3648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8620" indent="-28575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r>
              <a:rPr lang="en-US" dirty="0"/>
              <a:t>В последние годы жизни часто путешествовал</a:t>
            </a:r>
            <a:endParaRPr lang="ru-RU" dirty="0"/>
          </a:p>
          <a:p>
            <a:pPr marL="388620" indent="-28575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r>
              <a:rPr lang="en-US" dirty="0"/>
              <a:t>1931 год – правительство подарило Лебедеву автомобиль</a:t>
            </a:r>
            <a:endParaRPr lang="ru-RU" dirty="0"/>
          </a:p>
          <a:p>
            <a:pPr marL="388620" indent="-28575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r>
              <a:rPr lang="en-US" dirty="0"/>
              <a:t>1932 -1934 год - </a:t>
            </a:r>
            <a:r>
              <a:rPr lang="en-US" dirty="0">
                <a:effectLst/>
              </a:rPr>
              <a:t>руководил подготовкой аспирантов в Академии Наук СССР и в Ленинградском химико-технологическом институте имени Ленсовета </a:t>
            </a:r>
            <a:endParaRPr lang="ru-RU" dirty="0">
              <a:effectLst/>
            </a:endParaRPr>
          </a:p>
          <a:p>
            <a:pPr marL="388620" indent="-28575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r>
              <a:rPr lang="en-US" dirty="0"/>
              <a:t>1933 год - </a:t>
            </a:r>
            <a:r>
              <a:rPr lang="en-US" dirty="0">
                <a:effectLst/>
              </a:rPr>
              <a:t>Сергей Васильевич ушёл из Военно-медицинской академии </a:t>
            </a:r>
            <a:endParaRPr lang="ru-RU" dirty="0"/>
          </a:p>
          <a:p>
            <a:pPr marL="388620" indent="-28575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Wingdings" pitchFamily="2" charset="2"/>
              <a:buChar char="q"/>
            </a:pPr>
            <a:r>
              <a:rPr lang="en-US" dirty="0">
                <a:effectLst/>
              </a:rPr>
              <a:t>2 мая 1934 года Сергей Васильевич скончался у себя дома от сыпного тифа</a:t>
            </a:r>
            <a:endParaRPr lang="en-US" dirty="0"/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AD45C528-9287-25DA-9F54-174E918C4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091"/>
          <a:stretch/>
        </p:blipFill>
        <p:spPr bwMode="auto">
          <a:xfrm>
            <a:off x="8196830" y="372498"/>
            <a:ext cx="3374684" cy="605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581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3">
            <a:extLst>
              <a:ext uri="{FF2B5EF4-FFF2-40B4-BE49-F238E27FC236}">
                <a16:creationId xmlns:a16="http://schemas.microsoft.com/office/drawing/2014/main" id="{E192707B-B929-41A7-9B41-E959A1C6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Мензурки с раствором на полке в лаборатории">
            <a:extLst>
              <a:ext uri="{FF2B5EF4-FFF2-40B4-BE49-F238E27FC236}">
                <a16:creationId xmlns:a16="http://schemas.microsoft.com/office/drawing/2014/main" id="{BE5F7B51-5497-9EFF-7F84-1664C6F2D1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9643C69-72DC-00A5-A57B-8969F13F1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/>
              <a:t>Вклад в развитие советской химии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FE1DAF-8D5B-9268-577F-8D731EBA5CA1}"/>
              </a:ext>
            </a:extLst>
          </p:cNvPr>
          <p:cNvSpPr txBox="1"/>
          <p:nvPr/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8620" indent="-18288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</a:pPr>
            <a:r>
              <a:rPr lang="en-US"/>
              <a:t> Создание промышленности синтетического каучука</a:t>
            </a:r>
          </a:p>
          <a:p>
            <a:pPr marL="388620" indent="-18288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</a:pPr>
            <a:r>
              <a:rPr lang="en-US"/>
              <a:t>Фундаментальные основы полимерной химии</a:t>
            </a:r>
          </a:p>
          <a:p>
            <a:pPr marL="388620" indent="-18288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</a:pPr>
            <a:r>
              <a:rPr lang="en-US"/>
              <a:t>Развитие нефтехимии</a:t>
            </a:r>
          </a:p>
          <a:p>
            <a:pPr marL="388620" indent="-18288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</a:pPr>
            <a:r>
              <a:rPr lang="en-US"/>
              <a:t>Формирование научной школы</a:t>
            </a:r>
          </a:p>
          <a:p>
            <a:pPr marL="388620" indent="-18288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</a:pPr>
            <a:r>
              <a:rPr lang="en-US"/>
              <a:t>Стратегическое значение для экономики и обороны</a:t>
            </a:r>
          </a:p>
          <a:p>
            <a:pPr marL="388620" indent="-182880" defTabSz="914400"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Char char="•"/>
            </a:pPr>
            <a:r>
              <a:rPr lang="en-US"/>
              <a:t>Международное признание и долговременное влияние</a:t>
            </a:r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8FB4235C-4505-46C7-AD8F-8769A197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91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BFB61FA-5514-96F2-05B4-117A8AB58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737" y="315686"/>
            <a:ext cx="11011349" cy="14702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3600" b="1" dirty="0"/>
              <a:t>Признание и наследие</a:t>
            </a:r>
            <a:endParaRPr lang="en-US" sz="3600" b="1" dirty="0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13458588-AB9A-D4C2-71ED-85D2DD243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017" y="1777517"/>
            <a:ext cx="3095766" cy="309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85D73A88-99F7-BDD2-8DCF-87B7D63E6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692" y="892992"/>
            <a:ext cx="3376648" cy="5072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icture background">
            <a:extLst>
              <a:ext uri="{FF2B5EF4-FFF2-40B4-BE49-F238E27FC236}">
                <a16:creationId xmlns:a16="http://schemas.microsoft.com/office/drawing/2014/main" id="{F7B4A833-E807-2E15-24B4-59F0CA98E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97" y="1443808"/>
            <a:ext cx="3095766" cy="452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4420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авон">
  <a:themeElements>
    <a:clrScheme name="Савон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Савон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аво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2509</TotalTime>
  <Words>290</Words>
  <Application>Microsoft Macintosh PowerPoint</Application>
  <PresentationFormat>Широкоэкранный</PresentationFormat>
  <Paragraphs>41</Paragraphs>
  <Slides>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Brush Script MT</vt:lpstr>
      <vt:lpstr>Aptos</vt:lpstr>
      <vt:lpstr>Arial</vt:lpstr>
      <vt:lpstr>Century Gothic</vt:lpstr>
      <vt:lpstr>Onest</vt:lpstr>
      <vt:lpstr>Times New Roman</vt:lpstr>
      <vt:lpstr>Wingdings</vt:lpstr>
      <vt:lpstr>Савон</vt:lpstr>
      <vt:lpstr>Сергей Васильевич ЛЕБЕДЕВ И СОВЕТСКАЯ ХИМИЯ</vt:lpstr>
      <vt:lpstr>Ранние годы и образование</vt:lpstr>
      <vt:lpstr>Карьера и первые шаги в научной деятельности</vt:lpstr>
      <vt:lpstr>Презентация PowerPoint</vt:lpstr>
      <vt:lpstr>Последние годы жизни</vt:lpstr>
      <vt:lpstr>Вклад в развитие советской химии</vt:lpstr>
      <vt:lpstr>Признание и наследие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Косогова Мария Александровна</dc:creator>
  <cp:lastModifiedBy>Косогова Мария Александровна</cp:lastModifiedBy>
  <cp:revision>3</cp:revision>
  <dcterms:created xsi:type="dcterms:W3CDTF">2025-05-01T19:33:58Z</dcterms:created>
  <dcterms:modified xsi:type="dcterms:W3CDTF">2025-05-04T11:54:54Z</dcterms:modified>
</cp:coreProperties>
</file>